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 id="260" r:id="rId11"/>
    <p:sldId id="261" r:id="rId12"/>
    <p:sldId id="262"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900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1.xml"/><Relationship Id="rId4" Type="http://schemas.openxmlformats.org/officeDocument/2006/relationships/notesSlide" Target="../notesSlides/notesSlide4.xml"/><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5080">
            <a:solidFill>
              <a:srgbClr val="1F2D45">
                <a:alpha val="25000"/>
              </a:srgbClr>
            </a:solidFill>
            <a:prstDash val="solid"/>
          </a:ln>
        </p:spPr>
        <p:txBody>
          <a:bodyPr/>
          <a:lstStyle/>
          <a:p>
            <a:endParaRPr lang="en-US"/>
          </a:p>
        </p:txBody>
      </p:sp>
      <p:sp>
        <p:nvSpPr>
          <p:cNvPr id="3" name="Shape 1"/>
          <p:cNvSpPr/>
          <p:nvPr/>
        </p:nvSpPr>
        <p:spPr>
          <a:xfrm>
            <a:off x="548640" y="0"/>
            <a:ext cx="0" cy="6858000"/>
          </a:xfrm>
          <a:prstGeom prst="line">
            <a:avLst/>
          </a:prstGeom>
          <a:noFill/>
          <a:ln w="5080">
            <a:solidFill>
              <a:srgbClr val="1F2D45">
                <a:alpha val="25000"/>
              </a:srgbClr>
            </a:solidFill>
            <a:prstDash val="solid"/>
          </a:ln>
        </p:spPr>
        <p:txBody>
          <a:bodyPr/>
          <a:lstStyle/>
          <a:p>
            <a:endParaRPr lang="en-US"/>
          </a:p>
        </p:txBody>
      </p:sp>
      <p:sp>
        <p:nvSpPr>
          <p:cNvPr id="4" name="Shape 2"/>
          <p:cNvSpPr/>
          <p:nvPr/>
        </p:nvSpPr>
        <p:spPr>
          <a:xfrm>
            <a:off x="1097280" y="0"/>
            <a:ext cx="0" cy="6858000"/>
          </a:xfrm>
          <a:prstGeom prst="line">
            <a:avLst/>
          </a:prstGeom>
          <a:noFill/>
          <a:ln w="5080">
            <a:solidFill>
              <a:srgbClr val="1F2D45">
                <a:alpha val="25000"/>
              </a:srgbClr>
            </a:solidFill>
            <a:prstDash val="solid"/>
          </a:ln>
        </p:spPr>
        <p:txBody>
          <a:bodyPr/>
          <a:lstStyle/>
          <a:p>
            <a:endParaRPr lang="en-US"/>
          </a:p>
        </p:txBody>
      </p:sp>
      <p:sp>
        <p:nvSpPr>
          <p:cNvPr id="5" name="Shape 3"/>
          <p:cNvSpPr/>
          <p:nvPr/>
        </p:nvSpPr>
        <p:spPr>
          <a:xfrm>
            <a:off x="1645920" y="0"/>
            <a:ext cx="0" cy="6858000"/>
          </a:xfrm>
          <a:prstGeom prst="line">
            <a:avLst/>
          </a:prstGeom>
          <a:noFill/>
          <a:ln w="5080">
            <a:solidFill>
              <a:srgbClr val="1F2D45">
                <a:alpha val="25000"/>
              </a:srgbClr>
            </a:solidFill>
            <a:prstDash val="solid"/>
          </a:ln>
        </p:spPr>
        <p:txBody>
          <a:bodyPr/>
          <a:lstStyle/>
          <a:p>
            <a:endParaRPr lang="en-US"/>
          </a:p>
        </p:txBody>
      </p:sp>
      <p:sp>
        <p:nvSpPr>
          <p:cNvPr id="6" name="Shape 4"/>
          <p:cNvSpPr/>
          <p:nvPr/>
        </p:nvSpPr>
        <p:spPr>
          <a:xfrm>
            <a:off x="2194560" y="0"/>
            <a:ext cx="0" cy="6858000"/>
          </a:xfrm>
          <a:prstGeom prst="line">
            <a:avLst/>
          </a:prstGeom>
          <a:noFill/>
          <a:ln w="5080">
            <a:solidFill>
              <a:srgbClr val="1F2D45">
                <a:alpha val="25000"/>
              </a:srgbClr>
            </a:solidFill>
            <a:prstDash val="solid"/>
          </a:ln>
        </p:spPr>
        <p:txBody>
          <a:bodyPr/>
          <a:lstStyle/>
          <a:p>
            <a:endParaRPr lang="en-US"/>
          </a:p>
        </p:txBody>
      </p:sp>
      <p:sp>
        <p:nvSpPr>
          <p:cNvPr id="7" name="Shape 5"/>
          <p:cNvSpPr/>
          <p:nvPr/>
        </p:nvSpPr>
        <p:spPr>
          <a:xfrm>
            <a:off x="2743200" y="0"/>
            <a:ext cx="0" cy="6858000"/>
          </a:xfrm>
          <a:prstGeom prst="line">
            <a:avLst/>
          </a:prstGeom>
          <a:noFill/>
          <a:ln w="5080">
            <a:solidFill>
              <a:srgbClr val="1F2D45">
                <a:alpha val="25000"/>
              </a:srgbClr>
            </a:solidFill>
            <a:prstDash val="solid"/>
          </a:ln>
        </p:spPr>
        <p:txBody>
          <a:bodyPr/>
          <a:lstStyle/>
          <a:p>
            <a:endParaRPr lang="en-US"/>
          </a:p>
        </p:txBody>
      </p:sp>
      <p:sp>
        <p:nvSpPr>
          <p:cNvPr id="8" name="Shape 6"/>
          <p:cNvSpPr/>
          <p:nvPr/>
        </p:nvSpPr>
        <p:spPr>
          <a:xfrm>
            <a:off x="3291840" y="0"/>
            <a:ext cx="0" cy="6858000"/>
          </a:xfrm>
          <a:prstGeom prst="line">
            <a:avLst/>
          </a:prstGeom>
          <a:noFill/>
          <a:ln w="5080">
            <a:solidFill>
              <a:srgbClr val="1F2D45">
                <a:alpha val="25000"/>
              </a:srgbClr>
            </a:solidFill>
            <a:prstDash val="solid"/>
          </a:ln>
        </p:spPr>
        <p:txBody>
          <a:bodyPr/>
          <a:lstStyle/>
          <a:p>
            <a:endParaRPr lang="en-US"/>
          </a:p>
        </p:txBody>
      </p:sp>
      <p:sp>
        <p:nvSpPr>
          <p:cNvPr id="9" name="Shape 7"/>
          <p:cNvSpPr/>
          <p:nvPr/>
        </p:nvSpPr>
        <p:spPr>
          <a:xfrm>
            <a:off x="3840480" y="0"/>
            <a:ext cx="0" cy="6858000"/>
          </a:xfrm>
          <a:prstGeom prst="line">
            <a:avLst/>
          </a:prstGeom>
          <a:noFill/>
          <a:ln w="5080">
            <a:solidFill>
              <a:srgbClr val="1F2D45">
                <a:alpha val="25000"/>
              </a:srgbClr>
            </a:solidFill>
            <a:prstDash val="solid"/>
          </a:ln>
        </p:spPr>
        <p:txBody>
          <a:bodyPr/>
          <a:lstStyle/>
          <a:p>
            <a:endParaRPr lang="en-US"/>
          </a:p>
        </p:txBody>
      </p:sp>
      <p:sp>
        <p:nvSpPr>
          <p:cNvPr id="10" name="Shape 8"/>
          <p:cNvSpPr/>
          <p:nvPr/>
        </p:nvSpPr>
        <p:spPr>
          <a:xfrm>
            <a:off x="4389120" y="0"/>
            <a:ext cx="0" cy="6858000"/>
          </a:xfrm>
          <a:prstGeom prst="line">
            <a:avLst/>
          </a:prstGeom>
          <a:noFill/>
          <a:ln w="5080">
            <a:solidFill>
              <a:srgbClr val="1F2D45">
                <a:alpha val="25000"/>
              </a:srgbClr>
            </a:solidFill>
            <a:prstDash val="solid"/>
          </a:ln>
        </p:spPr>
        <p:txBody>
          <a:bodyPr/>
          <a:lstStyle/>
          <a:p>
            <a:endParaRPr lang="en-US"/>
          </a:p>
        </p:txBody>
      </p:sp>
      <p:sp>
        <p:nvSpPr>
          <p:cNvPr id="11" name="Shape 9"/>
          <p:cNvSpPr/>
          <p:nvPr/>
        </p:nvSpPr>
        <p:spPr>
          <a:xfrm>
            <a:off x="4937760" y="0"/>
            <a:ext cx="0" cy="6858000"/>
          </a:xfrm>
          <a:prstGeom prst="line">
            <a:avLst/>
          </a:prstGeom>
          <a:noFill/>
          <a:ln w="5080">
            <a:solidFill>
              <a:srgbClr val="1F2D45">
                <a:alpha val="25000"/>
              </a:srgbClr>
            </a:solidFill>
            <a:prstDash val="solid"/>
          </a:ln>
        </p:spPr>
        <p:txBody>
          <a:bodyPr/>
          <a:lstStyle/>
          <a:p>
            <a:endParaRPr lang="en-US"/>
          </a:p>
        </p:txBody>
      </p:sp>
      <p:sp>
        <p:nvSpPr>
          <p:cNvPr id="12" name="Shape 10"/>
          <p:cNvSpPr/>
          <p:nvPr/>
        </p:nvSpPr>
        <p:spPr>
          <a:xfrm>
            <a:off x="5486400" y="0"/>
            <a:ext cx="0" cy="6858000"/>
          </a:xfrm>
          <a:prstGeom prst="line">
            <a:avLst/>
          </a:prstGeom>
          <a:noFill/>
          <a:ln w="5080">
            <a:solidFill>
              <a:srgbClr val="1F2D45">
                <a:alpha val="25000"/>
              </a:srgbClr>
            </a:solidFill>
            <a:prstDash val="solid"/>
          </a:ln>
        </p:spPr>
        <p:txBody>
          <a:bodyPr/>
          <a:lstStyle/>
          <a:p>
            <a:endParaRPr lang="en-US"/>
          </a:p>
        </p:txBody>
      </p:sp>
      <p:sp>
        <p:nvSpPr>
          <p:cNvPr id="13" name="Shape 11"/>
          <p:cNvSpPr/>
          <p:nvPr/>
        </p:nvSpPr>
        <p:spPr>
          <a:xfrm>
            <a:off x="6035040" y="0"/>
            <a:ext cx="0" cy="6858000"/>
          </a:xfrm>
          <a:prstGeom prst="line">
            <a:avLst/>
          </a:prstGeom>
          <a:noFill/>
          <a:ln w="5080">
            <a:solidFill>
              <a:srgbClr val="1F2D45">
                <a:alpha val="25000"/>
              </a:srgbClr>
            </a:solidFill>
            <a:prstDash val="solid"/>
          </a:ln>
        </p:spPr>
        <p:txBody>
          <a:bodyPr/>
          <a:lstStyle/>
          <a:p>
            <a:endParaRPr lang="en-US"/>
          </a:p>
        </p:txBody>
      </p:sp>
      <p:sp>
        <p:nvSpPr>
          <p:cNvPr id="14" name="Shape 12"/>
          <p:cNvSpPr/>
          <p:nvPr/>
        </p:nvSpPr>
        <p:spPr>
          <a:xfrm>
            <a:off x="6583680" y="0"/>
            <a:ext cx="0" cy="6858000"/>
          </a:xfrm>
          <a:prstGeom prst="line">
            <a:avLst/>
          </a:prstGeom>
          <a:noFill/>
          <a:ln w="5080">
            <a:solidFill>
              <a:srgbClr val="1F2D45">
                <a:alpha val="25000"/>
              </a:srgbClr>
            </a:solidFill>
            <a:prstDash val="solid"/>
          </a:ln>
        </p:spPr>
        <p:txBody>
          <a:bodyPr/>
          <a:lstStyle/>
          <a:p>
            <a:endParaRPr lang="en-US"/>
          </a:p>
        </p:txBody>
      </p:sp>
      <p:sp>
        <p:nvSpPr>
          <p:cNvPr id="15" name="Shape 13"/>
          <p:cNvSpPr/>
          <p:nvPr/>
        </p:nvSpPr>
        <p:spPr>
          <a:xfrm>
            <a:off x="7132320" y="0"/>
            <a:ext cx="0" cy="6858000"/>
          </a:xfrm>
          <a:prstGeom prst="line">
            <a:avLst/>
          </a:prstGeom>
          <a:noFill/>
          <a:ln w="5080">
            <a:solidFill>
              <a:srgbClr val="1F2D45">
                <a:alpha val="25000"/>
              </a:srgbClr>
            </a:solidFill>
            <a:prstDash val="solid"/>
          </a:ln>
        </p:spPr>
        <p:txBody>
          <a:bodyPr/>
          <a:lstStyle/>
          <a:p>
            <a:endParaRPr lang="en-US"/>
          </a:p>
        </p:txBody>
      </p:sp>
      <p:sp>
        <p:nvSpPr>
          <p:cNvPr id="16" name="Shape 14"/>
          <p:cNvSpPr/>
          <p:nvPr/>
        </p:nvSpPr>
        <p:spPr>
          <a:xfrm>
            <a:off x="7680960" y="0"/>
            <a:ext cx="0" cy="6858000"/>
          </a:xfrm>
          <a:prstGeom prst="line">
            <a:avLst/>
          </a:prstGeom>
          <a:noFill/>
          <a:ln w="5080">
            <a:solidFill>
              <a:srgbClr val="1F2D45">
                <a:alpha val="25000"/>
              </a:srgbClr>
            </a:solidFill>
            <a:prstDash val="solid"/>
          </a:ln>
        </p:spPr>
        <p:txBody>
          <a:bodyPr/>
          <a:lstStyle/>
          <a:p>
            <a:endParaRPr lang="en-US"/>
          </a:p>
        </p:txBody>
      </p:sp>
      <p:sp>
        <p:nvSpPr>
          <p:cNvPr id="17" name="Shape 15"/>
          <p:cNvSpPr/>
          <p:nvPr/>
        </p:nvSpPr>
        <p:spPr>
          <a:xfrm>
            <a:off x="8229600" y="0"/>
            <a:ext cx="0" cy="6858000"/>
          </a:xfrm>
          <a:prstGeom prst="line">
            <a:avLst/>
          </a:prstGeom>
          <a:noFill/>
          <a:ln w="5080">
            <a:solidFill>
              <a:srgbClr val="1F2D45">
                <a:alpha val="25000"/>
              </a:srgbClr>
            </a:solidFill>
            <a:prstDash val="solid"/>
          </a:ln>
        </p:spPr>
        <p:txBody>
          <a:bodyPr/>
          <a:lstStyle/>
          <a:p>
            <a:endParaRPr lang="en-US"/>
          </a:p>
        </p:txBody>
      </p:sp>
      <p:sp>
        <p:nvSpPr>
          <p:cNvPr id="18" name="Shape 16"/>
          <p:cNvSpPr/>
          <p:nvPr/>
        </p:nvSpPr>
        <p:spPr>
          <a:xfrm>
            <a:off x="8778240" y="0"/>
            <a:ext cx="0" cy="6858000"/>
          </a:xfrm>
          <a:prstGeom prst="line">
            <a:avLst/>
          </a:prstGeom>
          <a:noFill/>
          <a:ln w="5080">
            <a:solidFill>
              <a:srgbClr val="1F2D45">
                <a:alpha val="25000"/>
              </a:srgbClr>
            </a:solidFill>
            <a:prstDash val="solid"/>
          </a:ln>
        </p:spPr>
        <p:txBody>
          <a:bodyPr/>
          <a:lstStyle/>
          <a:p>
            <a:endParaRPr lang="en-US"/>
          </a:p>
        </p:txBody>
      </p:sp>
      <p:sp>
        <p:nvSpPr>
          <p:cNvPr id="19" name="Shape 17"/>
          <p:cNvSpPr/>
          <p:nvPr/>
        </p:nvSpPr>
        <p:spPr>
          <a:xfrm>
            <a:off x="9326880" y="0"/>
            <a:ext cx="0" cy="6858000"/>
          </a:xfrm>
          <a:prstGeom prst="line">
            <a:avLst/>
          </a:prstGeom>
          <a:noFill/>
          <a:ln w="5080">
            <a:solidFill>
              <a:srgbClr val="1F2D45">
                <a:alpha val="25000"/>
              </a:srgbClr>
            </a:solidFill>
            <a:prstDash val="solid"/>
          </a:ln>
        </p:spPr>
        <p:txBody>
          <a:bodyPr/>
          <a:lstStyle/>
          <a:p>
            <a:endParaRPr lang="en-US"/>
          </a:p>
        </p:txBody>
      </p:sp>
      <p:sp>
        <p:nvSpPr>
          <p:cNvPr id="20" name="Shape 18"/>
          <p:cNvSpPr/>
          <p:nvPr/>
        </p:nvSpPr>
        <p:spPr>
          <a:xfrm>
            <a:off x="9875520" y="0"/>
            <a:ext cx="0" cy="6858000"/>
          </a:xfrm>
          <a:prstGeom prst="line">
            <a:avLst/>
          </a:prstGeom>
          <a:noFill/>
          <a:ln w="5080">
            <a:solidFill>
              <a:srgbClr val="1F2D45">
                <a:alpha val="25000"/>
              </a:srgbClr>
            </a:solidFill>
            <a:prstDash val="solid"/>
          </a:ln>
        </p:spPr>
        <p:txBody>
          <a:bodyPr/>
          <a:lstStyle/>
          <a:p>
            <a:endParaRPr lang="en-US"/>
          </a:p>
        </p:txBody>
      </p:sp>
      <p:sp>
        <p:nvSpPr>
          <p:cNvPr id="21" name="Shape 19"/>
          <p:cNvSpPr/>
          <p:nvPr/>
        </p:nvSpPr>
        <p:spPr>
          <a:xfrm>
            <a:off x="10424160" y="0"/>
            <a:ext cx="0" cy="6858000"/>
          </a:xfrm>
          <a:prstGeom prst="line">
            <a:avLst/>
          </a:prstGeom>
          <a:noFill/>
          <a:ln w="5080">
            <a:solidFill>
              <a:srgbClr val="1F2D45">
                <a:alpha val="25000"/>
              </a:srgbClr>
            </a:solidFill>
            <a:prstDash val="solid"/>
          </a:ln>
        </p:spPr>
        <p:txBody>
          <a:bodyPr/>
          <a:lstStyle/>
          <a:p>
            <a:endParaRPr lang="en-US"/>
          </a:p>
        </p:txBody>
      </p:sp>
      <p:sp>
        <p:nvSpPr>
          <p:cNvPr id="22" name="Shape 20"/>
          <p:cNvSpPr/>
          <p:nvPr/>
        </p:nvSpPr>
        <p:spPr>
          <a:xfrm>
            <a:off x="10972800" y="0"/>
            <a:ext cx="0" cy="6858000"/>
          </a:xfrm>
          <a:prstGeom prst="line">
            <a:avLst/>
          </a:prstGeom>
          <a:noFill/>
          <a:ln w="5080">
            <a:solidFill>
              <a:srgbClr val="1F2D45">
                <a:alpha val="25000"/>
              </a:srgbClr>
            </a:solidFill>
            <a:prstDash val="solid"/>
          </a:ln>
        </p:spPr>
        <p:txBody>
          <a:bodyPr/>
          <a:lstStyle/>
          <a:p>
            <a:endParaRPr lang="en-US"/>
          </a:p>
        </p:txBody>
      </p:sp>
      <p:sp>
        <p:nvSpPr>
          <p:cNvPr id="23" name="Shape 21"/>
          <p:cNvSpPr/>
          <p:nvPr/>
        </p:nvSpPr>
        <p:spPr>
          <a:xfrm>
            <a:off x="11521440" y="0"/>
            <a:ext cx="0" cy="6858000"/>
          </a:xfrm>
          <a:prstGeom prst="line">
            <a:avLst/>
          </a:prstGeom>
          <a:noFill/>
          <a:ln w="5080">
            <a:solidFill>
              <a:srgbClr val="1F2D45">
                <a:alpha val="25000"/>
              </a:srgbClr>
            </a:solidFill>
            <a:prstDash val="solid"/>
          </a:ln>
        </p:spPr>
        <p:txBody>
          <a:bodyPr/>
          <a:lstStyle/>
          <a:p>
            <a:endParaRPr lang="en-US"/>
          </a:p>
        </p:txBody>
      </p:sp>
      <p:sp>
        <p:nvSpPr>
          <p:cNvPr id="24" name="Shape 22"/>
          <p:cNvSpPr/>
          <p:nvPr/>
        </p:nvSpPr>
        <p:spPr>
          <a:xfrm>
            <a:off x="12070080" y="0"/>
            <a:ext cx="0" cy="6858000"/>
          </a:xfrm>
          <a:prstGeom prst="line">
            <a:avLst/>
          </a:prstGeom>
          <a:noFill/>
          <a:ln w="5080">
            <a:solidFill>
              <a:srgbClr val="1F2D45">
                <a:alpha val="25000"/>
              </a:srgbClr>
            </a:solidFill>
            <a:prstDash val="solid"/>
          </a:ln>
        </p:spPr>
        <p:txBody>
          <a:bodyPr/>
          <a:lstStyle/>
          <a:p>
            <a:endParaRPr lang="en-US"/>
          </a:p>
        </p:txBody>
      </p:sp>
      <p:sp>
        <p:nvSpPr>
          <p:cNvPr id="25" name="Shape 23"/>
          <p:cNvSpPr/>
          <p:nvPr/>
        </p:nvSpPr>
        <p:spPr>
          <a:xfrm>
            <a:off x="0" y="0"/>
            <a:ext cx="12161520" cy="0"/>
          </a:xfrm>
          <a:prstGeom prst="line">
            <a:avLst/>
          </a:prstGeom>
          <a:noFill/>
          <a:ln w="5080">
            <a:solidFill>
              <a:srgbClr val="1F2D45">
                <a:alpha val="25000"/>
              </a:srgbClr>
            </a:solidFill>
            <a:prstDash val="solid"/>
          </a:ln>
        </p:spPr>
        <p:txBody>
          <a:bodyPr/>
          <a:lstStyle/>
          <a:p>
            <a:endParaRPr lang="en-US"/>
          </a:p>
        </p:txBody>
      </p:sp>
      <p:sp>
        <p:nvSpPr>
          <p:cNvPr id="26" name="Shape 24"/>
          <p:cNvSpPr/>
          <p:nvPr/>
        </p:nvSpPr>
        <p:spPr>
          <a:xfrm>
            <a:off x="0" y="548640"/>
            <a:ext cx="12161520" cy="0"/>
          </a:xfrm>
          <a:prstGeom prst="line">
            <a:avLst/>
          </a:prstGeom>
          <a:noFill/>
          <a:ln w="5080">
            <a:solidFill>
              <a:srgbClr val="1F2D45">
                <a:alpha val="25000"/>
              </a:srgbClr>
            </a:solidFill>
            <a:prstDash val="solid"/>
          </a:ln>
        </p:spPr>
        <p:txBody>
          <a:bodyPr/>
          <a:lstStyle/>
          <a:p>
            <a:endParaRPr lang="en-US"/>
          </a:p>
        </p:txBody>
      </p:sp>
      <p:sp>
        <p:nvSpPr>
          <p:cNvPr id="27" name="Shape 25"/>
          <p:cNvSpPr/>
          <p:nvPr/>
        </p:nvSpPr>
        <p:spPr>
          <a:xfrm>
            <a:off x="0" y="1097280"/>
            <a:ext cx="12161520" cy="0"/>
          </a:xfrm>
          <a:prstGeom prst="line">
            <a:avLst/>
          </a:prstGeom>
          <a:noFill/>
          <a:ln w="5080">
            <a:solidFill>
              <a:srgbClr val="1F2D45">
                <a:alpha val="25000"/>
              </a:srgbClr>
            </a:solidFill>
            <a:prstDash val="solid"/>
          </a:ln>
        </p:spPr>
        <p:txBody>
          <a:bodyPr/>
          <a:lstStyle/>
          <a:p>
            <a:endParaRPr lang="en-US"/>
          </a:p>
        </p:txBody>
      </p:sp>
      <p:sp>
        <p:nvSpPr>
          <p:cNvPr id="28" name="Shape 26"/>
          <p:cNvSpPr/>
          <p:nvPr/>
        </p:nvSpPr>
        <p:spPr>
          <a:xfrm>
            <a:off x="0" y="1645920"/>
            <a:ext cx="12161520" cy="0"/>
          </a:xfrm>
          <a:prstGeom prst="line">
            <a:avLst/>
          </a:prstGeom>
          <a:noFill/>
          <a:ln w="5080">
            <a:solidFill>
              <a:srgbClr val="1F2D45">
                <a:alpha val="25000"/>
              </a:srgbClr>
            </a:solidFill>
            <a:prstDash val="solid"/>
          </a:ln>
        </p:spPr>
        <p:txBody>
          <a:bodyPr/>
          <a:lstStyle/>
          <a:p>
            <a:endParaRPr lang="en-US"/>
          </a:p>
        </p:txBody>
      </p:sp>
      <p:sp>
        <p:nvSpPr>
          <p:cNvPr id="29" name="Shape 27"/>
          <p:cNvSpPr/>
          <p:nvPr/>
        </p:nvSpPr>
        <p:spPr>
          <a:xfrm>
            <a:off x="0" y="2194560"/>
            <a:ext cx="12161520" cy="0"/>
          </a:xfrm>
          <a:prstGeom prst="line">
            <a:avLst/>
          </a:prstGeom>
          <a:noFill/>
          <a:ln w="5080">
            <a:solidFill>
              <a:srgbClr val="1F2D45">
                <a:alpha val="25000"/>
              </a:srgbClr>
            </a:solidFill>
            <a:prstDash val="solid"/>
          </a:ln>
        </p:spPr>
        <p:txBody>
          <a:bodyPr/>
          <a:lstStyle/>
          <a:p>
            <a:endParaRPr lang="en-US"/>
          </a:p>
        </p:txBody>
      </p:sp>
      <p:sp>
        <p:nvSpPr>
          <p:cNvPr id="30" name="Shape 28"/>
          <p:cNvSpPr/>
          <p:nvPr/>
        </p:nvSpPr>
        <p:spPr>
          <a:xfrm>
            <a:off x="0" y="2743200"/>
            <a:ext cx="12161520" cy="0"/>
          </a:xfrm>
          <a:prstGeom prst="line">
            <a:avLst/>
          </a:prstGeom>
          <a:noFill/>
          <a:ln w="5080">
            <a:solidFill>
              <a:srgbClr val="1F2D45">
                <a:alpha val="25000"/>
              </a:srgbClr>
            </a:solidFill>
            <a:prstDash val="solid"/>
          </a:ln>
        </p:spPr>
        <p:txBody>
          <a:bodyPr/>
          <a:lstStyle/>
          <a:p>
            <a:endParaRPr lang="en-US"/>
          </a:p>
        </p:txBody>
      </p:sp>
      <p:sp>
        <p:nvSpPr>
          <p:cNvPr id="31" name="Shape 29"/>
          <p:cNvSpPr/>
          <p:nvPr/>
        </p:nvSpPr>
        <p:spPr>
          <a:xfrm>
            <a:off x="0" y="3291840"/>
            <a:ext cx="12161520" cy="0"/>
          </a:xfrm>
          <a:prstGeom prst="line">
            <a:avLst/>
          </a:prstGeom>
          <a:noFill/>
          <a:ln w="5080">
            <a:solidFill>
              <a:srgbClr val="1F2D45">
                <a:alpha val="25000"/>
              </a:srgbClr>
            </a:solidFill>
            <a:prstDash val="solid"/>
          </a:ln>
        </p:spPr>
        <p:txBody>
          <a:bodyPr/>
          <a:lstStyle/>
          <a:p>
            <a:endParaRPr lang="en-US"/>
          </a:p>
        </p:txBody>
      </p:sp>
      <p:sp>
        <p:nvSpPr>
          <p:cNvPr id="32" name="Shape 30"/>
          <p:cNvSpPr/>
          <p:nvPr/>
        </p:nvSpPr>
        <p:spPr>
          <a:xfrm>
            <a:off x="0" y="3840480"/>
            <a:ext cx="12161520" cy="0"/>
          </a:xfrm>
          <a:prstGeom prst="line">
            <a:avLst/>
          </a:prstGeom>
          <a:noFill/>
          <a:ln w="5080">
            <a:solidFill>
              <a:srgbClr val="1F2D45">
                <a:alpha val="25000"/>
              </a:srgbClr>
            </a:solidFill>
            <a:prstDash val="solid"/>
          </a:ln>
        </p:spPr>
        <p:txBody>
          <a:bodyPr/>
          <a:lstStyle/>
          <a:p>
            <a:endParaRPr lang="en-US"/>
          </a:p>
        </p:txBody>
      </p:sp>
      <p:sp>
        <p:nvSpPr>
          <p:cNvPr id="33" name="Shape 31"/>
          <p:cNvSpPr/>
          <p:nvPr/>
        </p:nvSpPr>
        <p:spPr>
          <a:xfrm>
            <a:off x="0" y="4389120"/>
            <a:ext cx="12161520" cy="0"/>
          </a:xfrm>
          <a:prstGeom prst="line">
            <a:avLst/>
          </a:prstGeom>
          <a:noFill/>
          <a:ln w="5080">
            <a:solidFill>
              <a:srgbClr val="1F2D45">
                <a:alpha val="25000"/>
              </a:srgbClr>
            </a:solidFill>
            <a:prstDash val="solid"/>
          </a:ln>
        </p:spPr>
        <p:txBody>
          <a:bodyPr/>
          <a:lstStyle/>
          <a:p>
            <a:endParaRPr lang="en-US"/>
          </a:p>
        </p:txBody>
      </p:sp>
      <p:sp>
        <p:nvSpPr>
          <p:cNvPr id="34" name="Shape 32"/>
          <p:cNvSpPr/>
          <p:nvPr/>
        </p:nvSpPr>
        <p:spPr>
          <a:xfrm>
            <a:off x="0" y="4937760"/>
            <a:ext cx="12161520" cy="0"/>
          </a:xfrm>
          <a:prstGeom prst="line">
            <a:avLst/>
          </a:prstGeom>
          <a:noFill/>
          <a:ln w="5080">
            <a:solidFill>
              <a:srgbClr val="1F2D45">
                <a:alpha val="25000"/>
              </a:srgbClr>
            </a:solidFill>
            <a:prstDash val="solid"/>
          </a:ln>
        </p:spPr>
        <p:txBody>
          <a:bodyPr/>
          <a:lstStyle/>
          <a:p>
            <a:endParaRPr lang="en-US"/>
          </a:p>
        </p:txBody>
      </p:sp>
      <p:sp>
        <p:nvSpPr>
          <p:cNvPr id="35" name="Shape 33"/>
          <p:cNvSpPr/>
          <p:nvPr/>
        </p:nvSpPr>
        <p:spPr>
          <a:xfrm>
            <a:off x="0" y="5486400"/>
            <a:ext cx="12161520" cy="0"/>
          </a:xfrm>
          <a:prstGeom prst="line">
            <a:avLst/>
          </a:prstGeom>
          <a:noFill/>
          <a:ln w="5080">
            <a:solidFill>
              <a:srgbClr val="1F2D45">
                <a:alpha val="25000"/>
              </a:srgbClr>
            </a:solidFill>
            <a:prstDash val="solid"/>
          </a:ln>
        </p:spPr>
        <p:txBody>
          <a:bodyPr/>
          <a:lstStyle/>
          <a:p>
            <a:endParaRPr lang="en-US"/>
          </a:p>
        </p:txBody>
      </p:sp>
      <p:sp>
        <p:nvSpPr>
          <p:cNvPr id="36" name="Shape 34"/>
          <p:cNvSpPr/>
          <p:nvPr/>
        </p:nvSpPr>
        <p:spPr>
          <a:xfrm>
            <a:off x="0" y="6035040"/>
            <a:ext cx="12161520" cy="0"/>
          </a:xfrm>
          <a:prstGeom prst="line">
            <a:avLst/>
          </a:prstGeom>
          <a:noFill/>
          <a:ln w="5080">
            <a:solidFill>
              <a:srgbClr val="1F2D45">
                <a:alpha val="25000"/>
              </a:srgbClr>
            </a:solidFill>
            <a:prstDash val="solid"/>
          </a:ln>
        </p:spPr>
        <p:txBody>
          <a:bodyPr/>
          <a:lstStyle/>
          <a:p>
            <a:endParaRPr lang="en-US"/>
          </a:p>
        </p:txBody>
      </p:sp>
      <p:sp>
        <p:nvSpPr>
          <p:cNvPr id="37" name="Shape 35"/>
          <p:cNvSpPr/>
          <p:nvPr/>
        </p:nvSpPr>
        <p:spPr>
          <a:xfrm>
            <a:off x="0" y="6583680"/>
            <a:ext cx="12161520" cy="0"/>
          </a:xfrm>
          <a:prstGeom prst="line">
            <a:avLst/>
          </a:prstGeom>
          <a:noFill/>
          <a:ln w="5080">
            <a:solidFill>
              <a:srgbClr val="1F2D45">
                <a:alpha val="25000"/>
              </a:srgbClr>
            </a:solidFill>
            <a:prstDash val="solid"/>
          </a:ln>
        </p:spPr>
        <p:txBody>
          <a:bodyPr/>
          <a:lstStyle/>
          <a:p>
            <a:endParaRPr lang="en-US"/>
          </a:p>
        </p:txBody>
      </p:sp>
      <p:sp>
        <p:nvSpPr>
          <p:cNvPr id="38" name="Shape 36"/>
          <p:cNvSpPr/>
          <p:nvPr/>
        </p:nvSpPr>
        <p:spPr>
          <a:xfrm>
            <a:off x="731520" y="1005840"/>
            <a:ext cx="411480" cy="54864"/>
          </a:xfrm>
          <a:prstGeom prst="rect">
            <a:avLst/>
          </a:prstGeom>
          <a:solidFill>
            <a:srgbClr val="22D3EE"/>
          </a:solidFill>
          <a:ln/>
        </p:spPr>
        <p:txBody>
          <a:bodyPr/>
          <a:lstStyle/>
          <a:p>
            <a:endParaRPr lang="en-US"/>
          </a:p>
        </p:txBody>
      </p:sp>
      <p:sp>
        <p:nvSpPr>
          <p:cNvPr id="39" name="Text 37"/>
          <p:cNvSpPr/>
          <p:nvPr/>
        </p:nvSpPr>
        <p:spPr>
          <a:xfrm>
            <a:off x="1234440" y="777240"/>
            <a:ext cx="10058400" cy="457200"/>
          </a:xfrm>
          <a:prstGeom prst="rect">
            <a:avLst/>
          </a:prstGeom>
          <a:noFill/>
          <a:ln/>
        </p:spPr>
        <p:txBody>
          <a:bodyPr wrap="square" lIns="0" tIns="0" rIns="0" bIns="0" rtlCol="0" anchor="ctr"/>
          <a:lstStyle/>
          <a:p>
            <a:pPr marL="0" indent="0">
              <a:buNone/>
            </a:pPr>
            <a:r>
              <a:rPr lang="en-US" sz="1200" b="1" kern="0" spc="400" dirty="0">
                <a:solidFill>
                  <a:srgbClr val="22D3EE"/>
                </a:solidFill>
                <a:latin typeface="Consolas" pitchFamily="34" charset="0"/>
                <a:ea typeface="Consolas" pitchFamily="34" charset="-122"/>
                <a:cs typeface="Consolas" pitchFamily="34" charset="-120"/>
              </a:rPr>
              <a:t>END-TO-END AUTOMATION  •  AGENT-DRIVEN</a:t>
            </a:r>
            <a:endParaRPr lang="en-US" sz="1200" dirty="0"/>
          </a:p>
        </p:txBody>
      </p:sp>
      <p:sp>
        <p:nvSpPr>
          <p:cNvPr id="40" name="Text 38"/>
          <p:cNvSpPr/>
          <p:nvPr/>
        </p:nvSpPr>
        <p:spPr>
          <a:xfrm>
            <a:off x="731520" y="1554480"/>
            <a:ext cx="10972800" cy="2377440"/>
          </a:xfrm>
          <a:prstGeom prst="rect">
            <a:avLst/>
          </a:prstGeom>
          <a:noFill/>
          <a:ln/>
        </p:spPr>
        <p:txBody>
          <a:bodyPr wrap="square" lIns="0" tIns="0" rIns="0" bIns="0" rtlCol="0" anchor="t"/>
          <a:lstStyle/>
          <a:p>
            <a:pPr marL="0" indent="0">
              <a:spcAft>
                <a:spcPts val="400"/>
              </a:spcAft>
              <a:buNone/>
            </a:pPr>
            <a:r>
              <a:rPr lang="en-US" sz="4800" b="1" dirty="0">
                <a:solidFill>
                  <a:srgbClr val="E8EEF7"/>
                </a:solidFill>
                <a:latin typeface="Georgia" pitchFamily="34" charset="0"/>
                <a:ea typeface="Georgia" pitchFamily="34" charset="-122"/>
                <a:cs typeface="Georgia" pitchFamily="34" charset="-120"/>
              </a:rPr>
              <a:t>We set up a Revit model</a:t>
            </a:r>
            <a:endParaRPr lang="en-US" sz="4800" dirty="0"/>
          </a:p>
          <a:p>
            <a:pPr marL="0" indent="0">
              <a:spcAft>
                <a:spcPts val="400"/>
              </a:spcAft>
              <a:buNone/>
            </a:pPr>
            <a:r>
              <a:rPr lang="en-US" sz="4800" b="1" dirty="0">
                <a:solidFill>
                  <a:srgbClr val="E8EEF7"/>
                </a:solidFill>
                <a:latin typeface="Georgia" pitchFamily="34" charset="0"/>
                <a:ea typeface="Georgia" pitchFamily="34" charset="-122"/>
                <a:cs typeface="Georgia" pitchFamily="34" charset="-120"/>
              </a:rPr>
              <a:t>without ever opening </a:t>
            </a:r>
            <a:r>
              <a:rPr lang="en-US" sz="4800" b="1" i="1" dirty="0">
                <a:solidFill>
                  <a:srgbClr val="22D3EE"/>
                </a:solidFill>
                <a:latin typeface="Georgia" pitchFamily="34" charset="0"/>
                <a:ea typeface="Georgia" pitchFamily="34" charset="-122"/>
                <a:cs typeface="Georgia" pitchFamily="34" charset="-120"/>
              </a:rPr>
              <a:t>Revit</a:t>
            </a:r>
            <a:r>
              <a:rPr lang="en-US" sz="4800" b="1" dirty="0">
                <a:solidFill>
                  <a:srgbClr val="E8EEF7"/>
                </a:solidFill>
                <a:latin typeface="Georgia" pitchFamily="34" charset="0"/>
                <a:ea typeface="Georgia" pitchFamily="34" charset="-122"/>
                <a:cs typeface="Georgia" pitchFamily="34" charset="-120"/>
              </a:rPr>
              <a:t> or </a:t>
            </a:r>
            <a:r>
              <a:rPr lang="en-US" sz="4800" b="1" i="1" dirty="0">
                <a:solidFill>
                  <a:srgbClr val="22D3EE"/>
                </a:solidFill>
                <a:latin typeface="Georgia" pitchFamily="34" charset="0"/>
                <a:ea typeface="Georgia" pitchFamily="34" charset="-122"/>
                <a:cs typeface="Georgia" pitchFamily="34" charset="-120"/>
              </a:rPr>
              <a:t>AutoCAD</a:t>
            </a:r>
            <a:r>
              <a:rPr lang="en-US" sz="4800" b="1" dirty="0">
                <a:solidFill>
                  <a:srgbClr val="E8EEF7"/>
                </a:solidFill>
                <a:latin typeface="Georgia" pitchFamily="34" charset="0"/>
                <a:ea typeface="Georgia" pitchFamily="34" charset="-122"/>
                <a:cs typeface="Georgia" pitchFamily="34" charset="-120"/>
              </a:rPr>
              <a:t>.</a:t>
            </a:r>
            <a:endParaRPr lang="en-US" sz="4800" dirty="0"/>
          </a:p>
        </p:txBody>
      </p:sp>
      <p:sp>
        <p:nvSpPr>
          <p:cNvPr id="41" name="Text 39"/>
          <p:cNvSpPr/>
          <p:nvPr/>
        </p:nvSpPr>
        <p:spPr>
          <a:xfrm>
            <a:off x="731520" y="4160520"/>
            <a:ext cx="10698480" cy="914400"/>
          </a:xfrm>
          <a:prstGeom prst="rect">
            <a:avLst/>
          </a:prstGeom>
          <a:noFill/>
          <a:ln/>
        </p:spPr>
        <p:txBody>
          <a:bodyPr wrap="square" lIns="0" tIns="0" rIns="0" bIns="0" rtlCol="0" anchor="t"/>
          <a:lstStyle/>
          <a:p>
            <a:pPr marL="0" indent="0">
              <a:buNone/>
            </a:pPr>
            <a:r>
              <a:rPr lang="en-US" sz="1800" dirty="0">
                <a:solidFill>
                  <a:srgbClr val="9CA9BF"/>
                </a:solidFill>
                <a:latin typeface="Calibri" pitchFamily="34" charset="0"/>
                <a:ea typeface="Calibri" pitchFamily="34" charset="-122"/>
                <a:cs typeface="Calibri" pitchFamily="34" charset="-120"/>
              </a:rPr>
              <a:t>An AI agent owns the entire Planet Fitness project kickoff, from inbox to a fully configured, circuited, synced cloud model.</a:t>
            </a:r>
            <a:endParaRPr lang="en-US" sz="1800" dirty="0"/>
          </a:p>
        </p:txBody>
      </p:sp>
      <p:sp>
        <p:nvSpPr>
          <p:cNvPr id="42" name="Shape 40"/>
          <p:cNvSpPr/>
          <p:nvPr/>
        </p:nvSpPr>
        <p:spPr>
          <a:xfrm>
            <a:off x="525780" y="5349240"/>
            <a:ext cx="2606040" cy="1051560"/>
          </a:xfrm>
          <a:prstGeom prst="rect">
            <a:avLst/>
          </a:prstGeom>
          <a:solidFill>
            <a:srgbClr val="111B2E"/>
          </a:solidFill>
          <a:ln w="9525">
            <a:solidFill>
              <a:srgbClr val="1F2D45"/>
            </a:solidFill>
            <a:prstDash val="solid"/>
          </a:ln>
        </p:spPr>
        <p:txBody>
          <a:bodyPr/>
          <a:lstStyle/>
          <a:p>
            <a:endParaRPr lang="en-US"/>
          </a:p>
        </p:txBody>
      </p:sp>
      <p:sp>
        <p:nvSpPr>
          <p:cNvPr id="43" name="Shape 41"/>
          <p:cNvSpPr/>
          <p:nvPr/>
        </p:nvSpPr>
        <p:spPr>
          <a:xfrm>
            <a:off x="525780" y="5349240"/>
            <a:ext cx="54864" cy="1051560"/>
          </a:xfrm>
          <a:prstGeom prst="rect">
            <a:avLst/>
          </a:prstGeom>
          <a:solidFill>
            <a:srgbClr val="22D3EE"/>
          </a:solidFill>
          <a:ln/>
        </p:spPr>
        <p:txBody>
          <a:bodyPr/>
          <a:lstStyle/>
          <a:p>
            <a:endParaRPr lang="en-US"/>
          </a:p>
        </p:txBody>
      </p:sp>
      <p:sp>
        <p:nvSpPr>
          <p:cNvPr id="44" name="Text 42"/>
          <p:cNvSpPr/>
          <p:nvPr/>
        </p:nvSpPr>
        <p:spPr>
          <a:xfrm>
            <a:off x="708660" y="5458968"/>
            <a:ext cx="2331720" cy="502920"/>
          </a:xfrm>
          <a:prstGeom prst="rect">
            <a:avLst/>
          </a:prstGeom>
          <a:noFill/>
          <a:ln/>
        </p:spPr>
        <p:txBody>
          <a:bodyPr wrap="square" lIns="0" tIns="0" rIns="0" bIns="0" rtlCol="0" anchor="ctr"/>
          <a:lstStyle/>
          <a:p>
            <a:pPr marL="0" indent="0">
              <a:buNone/>
            </a:pPr>
            <a:r>
              <a:rPr lang="en-US" sz="2800" b="1" dirty="0">
                <a:solidFill>
                  <a:srgbClr val="E8EEF7"/>
                </a:solidFill>
                <a:latin typeface="Georgia" pitchFamily="34" charset="0"/>
                <a:ea typeface="Georgia" pitchFamily="34" charset="-122"/>
                <a:cs typeface="Georgia" pitchFamily="34" charset="-120"/>
              </a:rPr>
              <a:t>20-25 hr</a:t>
            </a:r>
            <a:endParaRPr lang="en-US" sz="2800" dirty="0"/>
          </a:p>
        </p:txBody>
      </p:sp>
      <p:sp>
        <p:nvSpPr>
          <p:cNvPr id="45" name="Text 43"/>
          <p:cNvSpPr/>
          <p:nvPr/>
        </p:nvSpPr>
        <p:spPr>
          <a:xfrm>
            <a:off x="708660" y="5971032"/>
            <a:ext cx="2331720" cy="365760"/>
          </a:xfrm>
          <a:prstGeom prst="rect">
            <a:avLst/>
          </a:prstGeom>
          <a:noFill/>
          <a:ln/>
        </p:spPr>
        <p:txBody>
          <a:bodyPr wrap="square" lIns="0" tIns="0" rIns="0" bIns="0" rtlCol="0" anchor="ctr"/>
          <a:lstStyle/>
          <a:p>
            <a:pPr marL="0" indent="0">
              <a:buNone/>
            </a:pPr>
            <a:r>
              <a:rPr lang="en-US" sz="1100" kern="0" spc="100" dirty="0">
                <a:solidFill>
                  <a:srgbClr val="9CA9BF"/>
                </a:solidFill>
                <a:latin typeface="Calibri" pitchFamily="34" charset="0"/>
                <a:ea typeface="Calibri" pitchFamily="34" charset="-122"/>
                <a:cs typeface="Calibri" pitchFamily="34" charset="-120"/>
              </a:rPr>
              <a:t>manual setup, before</a:t>
            </a:r>
            <a:endParaRPr lang="en-US" sz="1100" dirty="0"/>
          </a:p>
        </p:txBody>
      </p:sp>
      <p:sp>
        <p:nvSpPr>
          <p:cNvPr id="46" name="Shape 44"/>
          <p:cNvSpPr/>
          <p:nvPr/>
        </p:nvSpPr>
        <p:spPr>
          <a:xfrm>
            <a:off x="3360420" y="5349240"/>
            <a:ext cx="2606040" cy="1051560"/>
          </a:xfrm>
          <a:prstGeom prst="rect">
            <a:avLst/>
          </a:prstGeom>
          <a:solidFill>
            <a:srgbClr val="111B2E"/>
          </a:solidFill>
          <a:ln w="9525">
            <a:solidFill>
              <a:srgbClr val="1F2D45"/>
            </a:solidFill>
            <a:prstDash val="solid"/>
          </a:ln>
        </p:spPr>
        <p:txBody>
          <a:bodyPr/>
          <a:lstStyle/>
          <a:p>
            <a:endParaRPr lang="en-US"/>
          </a:p>
        </p:txBody>
      </p:sp>
      <p:sp>
        <p:nvSpPr>
          <p:cNvPr id="47" name="Shape 45"/>
          <p:cNvSpPr/>
          <p:nvPr/>
        </p:nvSpPr>
        <p:spPr>
          <a:xfrm>
            <a:off x="3360420" y="5349240"/>
            <a:ext cx="54864" cy="1051560"/>
          </a:xfrm>
          <a:prstGeom prst="rect">
            <a:avLst/>
          </a:prstGeom>
          <a:solidFill>
            <a:srgbClr val="22D3EE"/>
          </a:solidFill>
          <a:ln/>
        </p:spPr>
        <p:txBody>
          <a:bodyPr/>
          <a:lstStyle/>
          <a:p>
            <a:endParaRPr lang="en-US"/>
          </a:p>
        </p:txBody>
      </p:sp>
      <p:sp>
        <p:nvSpPr>
          <p:cNvPr id="48" name="Text 46"/>
          <p:cNvSpPr/>
          <p:nvPr/>
        </p:nvSpPr>
        <p:spPr>
          <a:xfrm>
            <a:off x="3543300" y="5458968"/>
            <a:ext cx="2331720" cy="502920"/>
          </a:xfrm>
          <a:prstGeom prst="rect">
            <a:avLst/>
          </a:prstGeom>
          <a:noFill/>
          <a:ln/>
        </p:spPr>
        <p:txBody>
          <a:bodyPr wrap="square" lIns="0" tIns="0" rIns="0" bIns="0" rtlCol="0" anchor="ctr"/>
          <a:lstStyle/>
          <a:p>
            <a:pPr marL="0" indent="0">
              <a:buNone/>
            </a:pPr>
            <a:r>
              <a:rPr lang="en-US" sz="2800" b="1" dirty="0">
                <a:solidFill>
                  <a:srgbClr val="E8EEF7"/>
                </a:solidFill>
                <a:latin typeface="Georgia" pitchFamily="34" charset="0"/>
                <a:ea typeface="Georgia" pitchFamily="34" charset="-122"/>
                <a:cs typeface="Georgia" pitchFamily="34" charset="-120"/>
              </a:rPr>
              <a:t>&lt;1 hr</a:t>
            </a:r>
            <a:endParaRPr lang="en-US" sz="2800" dirty="0"/>
          </a:p>
        </p:txBody>
      </p:sp>
      <p:sp>
        <p:nvSpPr>
          <p:cNvPr id="49" name="Text 47"/>
          <p:cNvSpPr/>
          <p:nvPr/>
        </p:nvSpPr>
        <p:spPr>
          <a:xfrm>
            <a:off x="3543300" y="5971032"/>
            <a:ext cx="2331720" cy="365760"/>
          </a:xfrm>
          <a:prstGeom prst="rect">
            <a:avLst/>
          </a:prstGeom>
          <a:noFill/>
          <a:ln/>
        </p:spPr>
        <p:txBody>
          <a:bodyPr wrap="square" lIns="0" tIns="0" rIns="0" bIns="0" rtlCol="0" anchor="ctr"/>
          <a:lstStyle/>
          <a:p>
            <a:pPr marL="0" indent="0">
              <a:buNone/>
            </a:pPr>
            <a:r>
              <a:rPr lang="en-US" sz="1100" kern="0" spc="100" dirty="0">
                <a:solidFill>
                  <a:srgbClr val="9CA9BF"/>
                </a:solidFill>
                <a:latin typeface="Calibri" pitchFamily="34" charset="0"/>
                <a:ea typeface="Calibri" pitchFamily="34" charset="-122"/>
                <a:cs typeface="Calibri" pitchFamily="34" charset="-120"/>
              </a:rPr>
              <a:t>with supervised agent</a:t>
            </a:r>
            <a:endParaRPr lang="en-US" sz="1100" dirty="0"/>
          </a:p>
        </p:txBody>
      </p:sp>
      <p:sp>
        <p:nvSpPr>
          <p:cNvPr id="50" name="Shape 48"/>
          <p:cNvSpPr/>
          <p:nvPr/>
        </p:nvSpPr>
        <p:spPr>
          <a:xfrm>
            <a:off x="6195060" y="5349240"/>
            <a:ext cx="2606040" cy="1051560"/>
          </a:xfrm>
          <a:prstGeom prst="rect">
            <a:avLst/>
          </a:prstGeom>
          <a:solidFill>
            <a:srgbClr val="111B2E"/>
          </a:solidFill>
          <a:ln w="9525">
            <a:solidFill>
              <a:srgbClr val="1F2D45"/>
            </a:solidFill>
            <a:prstDash val="solid"/>
          </a:ln>
        </p:spPr>
        <p:txBody>
          <a:bodyPr/>
          <a:lstStyle/>
          <a:p>
            <a:endParaRPr lang="en-US"/>
          </a:p>
        </p:txBody>
      </p:sp>
      <p:sp>
        <p:nvSpPr>
          <p:cNvPr id="51" name="Shape 49"/>
          <p:cNvSpPr/>
          <p:nvPr/>
        </p:nvSpPr>
        <p:spPr>
          <a:xfrm>
            <a:off x="6195060" y="5349240"/>
            <a:ext cx="54864" cy="1051560"/>
          </a:xfrm>
          <a:prstGeom prst="rect">
            <a:avLst/>
          </a:prstGeom>
          <a:solidFill>
            <a:srgbClr val="22D3EE"/>
          </a:solidFill>
          <a:ln/>
        </p:spPr>
        <p:txBody>
          <a:bodyPr/>
          <a:lstStyle/>
          <a:p>
            <a:endParaRPr lang="en-US"/>
          </a:p>
        </p:txBody>
      </p:sp>
      <p:sp>
        <p:nvSpPr>
          <p:cNvPr id="52" name="Text 50"/>
          <p:cNvSpPr/>
          <p:nvPr/>
        </p:nvSpPr>
        <p:spPr>
          <a:xfrm>
            <a:off x="6377940" y="5458968"/>
            <a:ext cx="2331720" cy="502920"/>
          </a:xfrm>
          <a:prstGeom prst="rect">
            <a:avLst/>
          </a:prstGeom>
          <a:noFill/>
          <a:ln/>
        </p:spPr>
        <p:txBody>
          <a:bodyPr wrap="square" lIns="0" tIns="0" rIns="0" bIns="0" rtlCol="0" anchor="ctr"/>
          <a:lstStyle/>
          <a:p>
            <a:pPr marL="0" indent="0">
              <a:buNone/>
            </a:pPr>
            <a:r>
              <a:rPr lang="en-US" sz="2800" b="1" dirty="0">
                <a:solidFill>
                  <a:srgbClr val="E8EEF7"/>
                </a:solidFill>
                <a:latin typeface="Georgia" pitchFamily="34" charset="0"/>
                <a:ea typeface="Georgia" pitchFamily="34" charset="-122"/>
                <a:cs typeface="Georgia" pitchFamily="34" charset="-120"/>
              </a:rPr>
              <a:t>4-5 hr</a:t>
            </a:r>
            <a:endParaRPr lang="en-US" sz="2800" dirty="0"/>
          </a:p>
        </p:txBody>
      </p:sp>
      <p:sp>
        <p:nvSpPr>
          <p:cNvPr id="53" name="Text 51"/>
          <p:cNvSpPr/>
          <p:nvPr/>
        </p:nvSpPr>
        <p:spPr>
          <a:xfrm>
            <a:off x="6377940" y="5971032"/>
            <a:ext cx="2331720" cy="365760"/>
          </a:xfrm>
          <a:prstGeom prst="rect">
            <a:avLst/>
          </a:prstGeom>
          <a:noFill/>
          <a:ln/>
        </p:spPr>
        <p:txBody>
          <a:bodyPr wrap="square" lIns="0" tIns="0" rIns="0" bIns="0" rtlCol="0" anchor="ctr"/>
          <a:lstStyle/>
          <a:p>
            <a:pPr marL="0" indent="0">
              <a:buNone/>
            </a:pPr>
            <a:r>
              <a:rPr lang="en-US" sz="1100" kern="0" spc="100" dirty="0">
                <a:solidFill>
                  <a:srgbClr val="9CA9BF"/>
                </a:solidFill>
                <a:latin typeface="Calibri" pitchFamily="34" charset="0"/>
                <a:ea typeface="Calibri" pitchFamily="34" charset="-122"/>
                <a:cs typeface="Calibri" pitchFamily="34" charset="-120"/>
              </a:rPr>
              <a:t>saved per project</a:t>
            </a:r>
            <a:endParaRPr lang="en-US" sz="1100" dirty="0"/>
          </a:p>
        </p:txBody>
      </p:sp>
      <p:sp>
        <p:nvSpPr>
          <p:cNvPr id="54" name="Shape 52"/>
          <p:cNvSpPr/>
          <p:nvPr/>
        </p:nvSpPr>
        <p:spPr>
          <a:xfrm>
            <a:off x="9029700" y="5349240"/>
            <a:ext cx="2606040" cy="1051560"/>
          </a:xfrm>
          <a:prstGeom prst="rect">
            <a:avLst/>
          </a:prstGeom>
          <a:solidFill>
            <a:srgbClr val="111B2E"/>
          </a:solidFill>
          <a:ln w="9525">
            <a:solidFill>
              <a:srgbClr val="1F2D45"/>
            </a:solidFill>
            <a:prstDash val="solid"/>
          </a:ln>
        </p:spPr>
        <p:txBody>
          <a:bodyPr/>
          <a:lstStyle/>
          <a:p>
            <a:endParaRPr lang="en-US"/>
          </a:p>
        </p:txBody>
      </p:sp>
      <p:sp>
        <p:nvSpPr>
          <p:cNvPr id="55" name="Shape 53"/>
          <p:cNvSpPr/>
          <p:nvPr/>
        </p:nvSpPr>
        <p:spPr>
          <a:xfrm>
            <a:off x="9029700" y="5349240"/>
            <a:ext cx="54864" cy="1051560"/>
          </a:xfrm>
          <a:prstGeom prst="rect">
            <a:avLst/>
          </a:prstGeom>
          <a:solidFill>
            <a:srgbClr val="22D3EE"/>
          </a:solidFill>
          <a:ln/>
        </p:spPr>
        <p:txBody>
          <a:bodyPr/>
          <a:lstStyle/>
          <a:p>
            <a:endParaRPr lang="en-US"/>
          </a:p>
        </p:txBody>
      </p:sp>
      <p:sp>
        <p:nvSpPr>
          <p:cNvPr id="56" name="Text 54"/>
          <p:cNvSpPr/>
          <p:nvPr/>
        </p:nvSpPr>
        <p:spPr>
          <a:xfrm>
            <a:off x="9212580" y="5458968"/>
            <a:ext cx="2331720" cy="502920"/>
          </a:xfrm>
          <a:prstGeom prst="rect">
            <a:avLst/>
          </a:prstGeom>
          <a:noFill/>
          <a:ln/>
        </p:spPr>
        <p:txBody>
          <a:bodyPr wrap="square" lIns="0" tIns="0" rIns="0" bIns="0" rtlCol="0" anchor="ctr"/>
          <a:lstStyle/>
          <a:p>
            <a:pPr marL="0" indent="0">
              <a:buNone/>
            </a:pPr>
            <a:r>
              <a:rPr lang="en-US" sz="2800" b="1" dirty="0">
                <a:solidFill>
                  <a:srgbClr val="E8EEF7"/>
                </a:solidFill>
                <a:latin typeface="Georgia" pitchFamily="34" charset="0"/>
                <a:ea typeface="Georgia" pitchFamily="34" charset="-122"/>
                <a:cs typeface="Georgia" pitchFamily="34" charset="-120"/>
              </a:rPr>
              <a:t>20+</a:t>
            </a:r>
            <a:endParaRPr lang="en-US" sz="2800" dirty="0"/>
          </a:p>
        </p:txBody>
      </p:sp>
      <p:sp>
        <p:nvSpPr>
          <p:cNvPr id="57" name="Text 55"/>
          <p:cNvSpPr/>
          <p:nvPr/>
        </p:nvSpPr>
        <p:spPr>
          <a:xfrm>
            <a:off x="9212580" y="5971032"/>
            <a:ext cx="2331720" cy="365760"/>
          </a:xfrm>
          <a:prstGeom prst="rect">
            <a:avLst/>
          </a:prstGeom>
          <a:noFill/>
          <a:ln/>
        </p:spPr>
        <p:txBody>
          <a:bodyPr wrap="square" lIns="0" tIns="0" rIns="0" bIns="0" rtlCol="0" anchor="ctr"/>
          <a:lstStyle/>
          <a:p>
            <a:pPr marL="0" indent="0">
              <a:buNone/>
            </a:pPr>
            <a:r>
              <a:rPr lang="en-US" sz="1100" kern="0" spc="100" dirty="0">
                <a:solidFill>
                  <a:srgbClr val="9CA9BF"/>
                </a:solidFill>
                <a:latin typeface="Calibri" pitchFamily="34" charset="0"/>
                <a:ea typeface="Calibri" pitchFamily="34" charset="-122"/>
                <a:cs typeface="Calibri" pitchFamily="34" charset="-120"/>
              </a:rPr>
              <a:t>pre-built Revit ops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548640" y="457200"/>
            <a:ext cx="411480" cy="54864"/>
          </a:xfrm>
          <a:prstGeom prst="rect">
            <a:avLst/>
          </a:prstGeom>
          <a:solidFill>
            <a:srgbClr val="22D3EE"/>
          </a:solidFill>
          <a:ln/>
        </p:spPr>
        <p:txBody>
          <a:bodyPr/>
          <a:lstStyle/>
          <a:p>
            <a:endParaRPr lang="en-US"/>
          </a:p>
        </p:txBody>
      </p:sp>
      <p:sp>
        <p:nvSpPr>
          <p:cNvPr id="3" name="Text 1"/>
          <p:cNvSpPr/>
          <p:nvPr/>
        </p:nvSpPr>
        <p:spPr>
          <a:xfrm>
            <a:off x="1051560" y="292608"/>
            <a:ext cx="5486400" cy="365760"/>
          </a:xfrm>
          <a:prstGeom prst="rect">
            <a:avLst/>
          </a:prstGeom>
          <a:noFill/>
          <a:ln/>
        </p:spPr>
        <p:txBody>
          <a:bodyPr wrap="square" lIns="0" tIns="0" rIns="0" bIns="0" rtlCol="0" anchor="ctr"/>
          <a:lstStyle/>
          <a:p>
            <a:pPr marL="0" indent="0">
              <a:buNone/>
            </a:pPr>
            <a:r>
              <a:rPr lang="en-US" sz="1100" b="1" kern="0" spc="400" dirty="0">
                <a:solidFill>
                  <a:srgbClr val="22D3EE"/>
                </a:solidFill>
                <a:latin typeface="Consolas" pitchFamily="34" charset="0"/>
                <a:ea typeface="Consolas" pitchFamily="34" charset="-122"/>
                <a:cs typeface="Consolas" pitchFamily="34" charset="-120"/>
              </a:rPr>
              <a:t>THE PIPELINE</a:t>
            </a:r>
            <a:endParaRPr lang="en-US" sz="1100" dirty="0"/>
          </a:p>
        </p:txBody>
      </p:sp>
      <p:sp>
        <p:nvSpPr>
          <p:cNvPr id="4" name="Text 2"/>
          <p:cNvSpPr/>
          <p:nvPr/>
        </p:nvSpPr>
        <p:spPr>
          <a:xfrm>
            <a:off x="548640" y="621792"/>
            <a:ext cx="10972800" cy="640080"/>
          </a:xfrm>
          <a:prstGeom prst="rect">
            <a:avLst/>
          </a:prstGeom>
          <a:noFill/>
          <a:ln/>
        </p:spPr>
        <p:txBody>
          <a:bodyPr wrap="square" lIns="0" tIns="0" rIns="0" bIns="0" rtlCol="0" anchor="ctr"/>
          <a:lstStyle/>
          <a:p>
            <a:pPr marL="0" indent="0">
              <a:buNone/>
            </a:pPr>
            <a:r>
              <a:rPr lang="en-US" sz="3200" b="1" dirty="0">
                <a:solidFill>
                  <a:srgbClr val="E8EEF7"/>
                </a:solidFill>
                <a:latin typeface="Georgia" pitchFamily="34" charset="0"/>
                <a:ea typeface="Georgia" pitchFamily="34" charset="-122"/>
                <a:cs typeface="Georgia" pitchFamily="34" charset="-120"/>
              </a:rPr>
              <a:t>Six stages, one agent.</a:t>
            </a:r>
            <a:endParaRPr lang="en-US" sz="3200" dirty="0"/>
          </a:p>
        </p:txBody>
      </p:sp>
      <p:sp>
        <p:nvSpPr>
          <p:cNvPr id="5" name="Shape 3"/>
          <p:cNvSpPr/>
          <p:nvPr/>
        </p:nvSpPr>
        <p:spPr>
          <a:xfrm>
            <a:off x="548640" y="1554480"/>
            <a:ext cx="3703320" cy="2423160"/>
          </a:xfrm>
          <a:prstGeom prst="rect">
            <a:avLst/>
          </a:prstGeom>
          <a:solidFill>
            <a:srgbClr val="111B2E"/>
          </a:solidFill>
          <a:ln w="9525">
            <a:solidFill>
              <a:srgbClr val="1F2D45"/>
            </a:solidFill>
            <a:prstDash val="solid"/>
          </a:ln>
        </p:spPr>
        <p:txBody>
          <a:bodyPr/>
          <a:lstStyle/>
          <a:p>
            <a:endParaRPr lang="en-US"/>
          </a:p>
        </p:txBody>
      </p:sp>
      <p:sp>
        <p:nvSpPr>
          <p:cNvPr id="6" name="Shape 4"/>
          <p:cNvSpPr/>
          <p:nvPr/>
        </p:nvSpPr>
        <p:spPr>
          <a:xfrm>
            <a:off x="548640" y="1554480"/>
            <a:ext cx="54864" cy="2423160"/>
          </a:xfrm>
          <a:prstGeom prst="rect">
            <a:avLst/>
          </a:prstGeom>
          <a:solidFill>
            <a:srgbClr val="22D3EE"/>
          </a:solidFill>
          <a:ln/>
        </p:spPr>
        <p:txBody>
          <a:bodyPr/>
          <a:lstStyle/>
          <a:p>
            <a:endParaRPr lang="en-US"/>
          </a:p>
        </p:txBody>
      </p:sp>
      <p:sp>
        <p:nvSpPr>
          <p:cNvPr id="7" name="Text 5"/>
          <p:cNvSpPr/>
          <p:nvPr/>
        </p:nvSpPr>
        <p:spPr>
          <a:xfrm>
            <a:off x="3200400" y="1600200"/>
            <a:ext cx="914400" cy="548640"/>
          </a:xfrm>
          <a:prstGeom prst="rect">
            <a:avLst/>
          </a:prstGeom>
          <a:noFill/>
          <a:ln/>
        </p:spPr>
        <p:txBody>
          <a:bodyPr wrap="square" lIns="0" tIns="0" rIns="0" bIns="0" rtlCol="0" anchor="ctr"/>
          <a:lstStyle/>
          <a:p>
            <a:pPr marL="0" indent="0" algn="r">
              <a:buNone/>
            </a:pPr>
            <a:r>
              <a:rPr lang="en-US" sz="3200" b="1" i="1" dirty="0">
                <a:solidFill>
                  <a:srgbClr val="0891B2">
                    <a:alpha val="70000"/>
                  </a:srgbClr>
                </a:solidFill>
                <a:latin typeface="Georgia" pitchFamily="34" charset="0"/>
                <a:ea typeface="Georgia" pitchFamily="34" charset="-122"/>
                <a:cs typeface="Georgia" pitchFamily="34" charset="-120"/>
              </a:rPr>
              <a:t>01</a:t>
            </a:r>
            <a:endParaRPr lang="en-US" sz="3200" dirty="0"/>
          </a:p>
        </p:txBody>
      </p:sp>
      <p:pic>
        <p:nvPicPr>
          <p:cNvPr id="8" name="Image 0" descr="preencoded.png"/>
          <p:cNvPicPr>
            <a:picLocks noChangeAspect="1"/>
          </p:cNvPicPr>
          <p:nvPr/>
        </p:nvPicPr>
        <p:blipFill>
          <a:blip r:embed="rId3"/>
          <a:stretch>
            <a:fillRect/>
          </a:stretch>
        </p:blipFill>
        <p:spPr>
          <a:xfrm>
            <a:off x="749808" y="1737360"/>
            <a:ext cx="347472" cy="347472"/>
          </a:xfrm>
          <a:prstGeom prst="rect">
            <a:avLst/>
          </a:prstGeom>
        </p:spPr>
      </p:pic>
      <p:sp>
        <p:nvSpPr>
          <p:cNvPr id="9" name="Text 6"/>
          <p:cNvSpPr/>
          <p:nvPr/>
        </p:nvSpPr>
        <p:spPr>
          <a:xfrm>
            <a:off x="1188720" y="1719072"/>
            <a:ext cx="2011680" cy="411480"/>
          </a:xfrm>
          <a:prstGeom prst="rect">
            <a:avLst/>
          </a:prstGeom>
          <a:noFill/>
          <a:ln/>
        </p:spPr>
        <p:txBody>
          <a:bodyPr wrap="square" lIns="0" tIns="0" rIns="0" bIns="0" rtlCol="0" anchor="ctr"/>
          <a:lstStyle/>
          <a:p>
            <a:pPr marL="0" indent="0">
              <a:buNone/>
            </a:pPr>
            <a:r>
              <a:rPr lang="en-US" sz="1500" b="1" dirty="0">
                <a:solidFill>
                  <a:srgbClr val="E8EEF7"/>
                </a:solidFill>
                <a:latin typeface="Georgia" pitchFamily="34" charset="0"/>
                <a:ea typeface="Georgia" pitchFamily="34" charset="-122"/>
                <a:cs typeface="Georgia" pitchFamily="34" charset="-120"/>
              </a:rPr>
              <a:t>Email Intake &amp; Discovery</a:t>
            </a:r>
            <a:endParaRPr lang="en-US" sz="1500" dirty="0"/>
          </a:p>
        </p:txBody>
      </p:sp>
      <p:sp>
        <p:nvSpPr>
          <p:cNvPr id="10" name="Text 7"/>
          <p:cNvSpPr/>
          <p:nvPr/>
        </p:nvSpPr>
        <p:spPr>
          <a:xfrm>
            <a:off x="749808" y="2212848"/>
            <a:ext cx="3337560" cy="164592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9CA9BF"/>
                </a:solidFill>
                <a:latin typeface="Calibri" pitchFamily="34" charset="0"/>
                <a:ea typeface="Calibri" pitchFamily="34" charset="-122"/>
                <a:cs typeface="Calibri" pitchFamily="34" charset="-120"/>
              </a:rPr>
              <a:t>Scans Outlook for legit kickoffs from Jack, Babafemi, Scott; filters follow-ups &amp; noise</a:t>
            </a:r>
            <a:endParaRPr lang="en-US" sz="1050" dirty="0"/>
          </a:p>
          <a:p>
            <a:pPr marL="342900" indent="-342900">
              <a:spcAft>
                <a:spcPts val="300"/>
              </a:spcAft>
              <a:buSzPct val="100000"/>
              <a:buChar char="▪"/>
            </a:pPr>
            <a:r>
              <a:rPr lang="en-US" sz="1050" dirty="0">
                <a:solidFill>
                  <a:srgbClr val="9CA9BF"/>
                </a:solidFill>
                <a:latin typeface="Calibri" pitchFamily="34" charset="0"/>
                <a:ea typeface="Calibri" pitchFamily="34" charset="-122"/>
                <a:cs typeface="Calibri" pitchFamily="34" charset="-120"/>
              </a:rPr>
              <a:t>Extracts project name, downloads &amp; renames DWGs (XO→X_BG, TB→X_TB)</a:t>
            </a:r>
            <a:endParaRPr lang="en-US" sz="1050" dirty="0"/>
          </a:p>
          <a:p>
            <a:pPr marL="342900" indent="-342900">
              <a:spcAft>
                <a:spcPts val="300"/>
              </a:spcAft>
              <a:buSzPct val="100000"/>
              <a:buChar char="▪"/>
            </a:pPr>
            <a:r>
              <a:rPr lang="en-US" sz="1050" dirty="0">
                <a:solidFill>
                  <a:srgbClr val="9CA9BF"/>
                </a:solidFill>
                <a:latin typeface="Calibri" pitchFamily="34" charset="0"/>
                <a:ea typeface="Calibri" pitchFamily="34" charset="-122"/>
                <a:cs typeface="Calibri" pitchFamily="34" charset="-120"/>
              </a:rPr>
              <a:t>Falls back to ACC folders when attachments are missing; checks what's already done</a:t>
            </a:r>
            <a:endParaRPr lang="en-US" sz="1050" dirty="0"/>
          </a:p>
        </p:txBody>
      </p:sp>
      <p:sp>
        <p:nvSpPr>
          <p:cNvPr id="11" name="Shape 8"/>
          <p:cNvSpPr/>
          <p:nvPr/>
        </p:nvSpPr>
        <p:spPr>
          <a:xfrm>
            <a:off x="4389120" y="1554480"/>
            <a:ext cx="3703320" cy="2423160"/>
          </a:xfrm>
          <a:prstGeom prst="rect">
            <a:avLst/>
          </a:prstGeom>
          <a:solidFill>
            <a:srgbClr val="111B2E"/>
          </a:solidFill>
          <a:ln w="9525">
            <a:solidFill>
              <a:srgbClr val="1F2D45"/>
            </a:solidFill>
            <a:prstDash val="solid"/>
          </a:ln>
        </p:spPr>
        <p:txBody>
          <a:bodyPr/>
          <a:lstStyle/>
          <a:p>
            <a:endParaRPr lang="en-US"/>
          </a:p>
        </p:txBody>
      </p:sp>
      <p:sp>
        <p:nvSpPr>
          <p:cNvPr id="12" name="Shape 9"/>
          <p:cNvSpPr/>
          <p:nvPr/>
        </p:nvSpPr>
        <p:spPr>
          <a:xfrm>
            <a:off x="4389120" y="1554480"/>
            <a:ext cx="54864" cy="2423160"/>
          </a:xfrm>
          <a:prstGeom prst="rect">
            <a:avLst/>
          </a:prstGeom>
          <a:solidFill>
            <a:srgbClr val="22D3EE"/>
          </a:solidFill>
          <a:ln/>
        </p:spPr>
        <p:txBody>
          <a:bodyPr/>
          <a:lstStyle/>
          <a:p>
            <a:endParaRPr lang="en-US"/>
          </a:p>
        </p:txBody>
      </p:sp>
      <p:sp>
        <p:nvSpPr>
          <p:cNvPr id="13" name="Text 10"/>
          <p:cNvSpPr/>
          <p:nvPr/>
        </p:nvSpPr>
        <p:spPr>
          <a:xfrm>
            <a:off x="7040880" y="1600200"/>
            <a:ext cx="914400" cy="548640"/>
          </a:xfrm>
          <a:prstGeom prst="rect">
            <a:avLst/>
          </a:prstGeom>
          <a:noFill/>
          <a:ln/>
        </p:spPr>
        <p:txBody>
          <a:bodyPr wrap="square" lIns="0" tIns="0" rIns="0" bIns="0" rtlCol="0" anchor="ctr"/>
          <a:lstStyle/>
          <a:p>
            <a:pPr marL="0" indent="0" algn="r">
              <a:buNone/>
            </a:pPr>
            <a:r>
              <a:rPr lang="en-US" sz="3200" b="1" i="1" dirty="0">
                <a:solidFill>
                  <a:srgbClr val="0891B2">
                    <a:alpha val="70000"/>
                  </a:srgbClr>
                </a:solidFill>
                <a:latin typeface="Georgia" pitchFamily="34" charset="0"/>
                <a:ea typeface="Georgia" pitchFamily="34" charset="-122"/>
                <a:cs typeface="Georgia" pitchFamily="34" charset="-120"/>
              </a:rPr>
              <a:t>02</a:t>
            </a:r>
            <a:endParaRPr lang="en-US" sz="3200" dirty="0"/>
          </a:p>
        </p:txBody>
      </p:sp>
      <p:pic>
        <p:nvPicPr>
          <p:cNvPr id="14" name="Image 1" descr="preencoded.png"/>
          <p:cNvPicPr>
            <a:picLocks noChangeAspect="1"/>
          </p:cNvPicPr>
          <p:nvPr/>
        </p:nvPicPr>
        <p:blipFill>
          <a:blip r:embed="rId4"/>
          <a:stretch>
            <a:fillRect/>
          </a:stretch>
        </p:blipFill>
        <p:spPr>
          <a:xfrm>
            <a:off x="4590288" y="1737360"/>
            <a:ext cx="347472" cy="347472"/>
          </a:xfrm>
          <a:prstGeom prst="rect">
            <a:avLst/>
          </a:prstGeom>
        </p:spPr>
      </p:pic>
      <p:sp>
        <p:nvSpPr>
          <p:cNvPr id="15" name="Text 11"/>
          <p:cNvSpPr/>
          <p:nvPr/>
        </p:nvSpPr>
        <p:spPr>
          <a:xfrm>
            <a:off x="5029200" y="1719072"/>
            <a:ext cx="2011680" cy="411480"/>
          </a:xfrm>
          <a:prstGeom prst="rect">
            <a:avLst/>
          </a:prstGeom>
          <a:noFill/>
          <a:ln/>
        </p:spPr>
        <p:txBody>
          <a:bodyPr wrap="square" lIns="0" tIns="0" rIns="0" bIns="0" rtlCol="0" anchor="ctr"/>
          <a:lstStyle/>
          <a:p>
            <a:pPr marL="0" indent="0">
              <a:buNone/>
            </a:pPr>
            <a:r>
              <a:rPr lang="en-US" sz="1500" b="1" dirty="0">
                <a:solidFill>
                  <a:srgbClr val="E8EEF7"/>
                </a:solidFill>
                <a:latin typeface="Georgia" pitchFamily="34" charset="0"/>
                <a:ea typeface="Georgia" pitchFamily="34" charset="-122"/>
                <a:cs typeface="Georgia" pitchFamily="34" charset="-120"/>
              </a:rPr>
              <a:t>AutoCAD Processing (COM)</a:t>
            </a:r>
            <a:endParaRPr lang="en-US" sz="1500" dirty="0"/>
          </a:p>
        </p:txBody>
      </p:sp>
      <p:sp>
        <p:nvSpPr>
          <p:cNvPr id="16" name="Text 12"/>
          <p:cNvSpPr/>
          <p:nvPr/>
        </p:nvSpPr>
        <p:spPr>
          <a:xfrm>
            <a:off x="4590288" y="2212848"/>
            <a:ext cx="3337560" cy="164592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9CA9BF"/>
                </a:solidFill>
                <a:latin typeface="Calibri" pitchFamily="34" charset="0"/>
                <a:ea typeface="Calibri" pitchFamily="34" charset="-122"/>
                <a:cs typeface="Calibri" pitchFamily="34" charset="-120"/>
              </a:rPr>
              <a:t>Opens DWGs, extracts title block + block coords + gridlines to CSV</a:t>
            </a:r>
            <a:endParaRPr lang="en-US" sz="1050" dirty="0"/>
          </a:p>
          <a:p>
            <a:pPr marL="342900" indent="-342900">
              <a:spcAft>
                <a:spcPts val="300"/>
              </a:spcAft>
              <a:buSzPct val="100000"/>
              <a:buChar char="▪"/>
            </a:pPr>
            <a:r>
              <a:rPr lang="en-US" sz="1050" dirty="0">
                <a:solidFill>
                  <a:srgbClr val="9CA9BF"/>
                </a:solidFill>
                <a:latin typeface="Calibri" pitchFamily="34" charset="0"/>
                <a:ea typeface="Calibri" pitchFamily="34" charset="-122"/>
                <a:cs typeface="Calibri" pitchFamily="34" charset="-120"/>
              </a:rPr>
              <a:t>Unlocks layers, deletes demo, rebases blocks 5×</a:t>
            </a:r>
            <a:endParaRPr lang="en-US" sz="1050" dirty="0"/>
          </a:p>
          <a:p>
            <a:pPr marL="342900" indent="-342900">
              <a:spcAft>
                <a:spcPts val="300"/>
              </a:spcAft>
              <a:buSzPct val="100000"/>
              <a:buChar char="▪"/>
            </a:pPr>
            <a:r>
              <a:rPr lang="en-US" sz="1050" dirty="0">
                <a:solidFill>
                  <a:srgbClr val="9CA9BF"/>
                </a:solidFill>
                <a:latin typeface="Calibri" pitchFamily="34" charset="0"/>
                <a:ea typeface="Calibri" pitchFamily="34" charset="-122"/>
                <a:cs typeface="Calibri" pitchFamily="34" charset="-120"/>
              </a:rPr>
              <a:t>AI block-rename detection scans every definition against its label, no hardcoded maps</a:t>
            </a:r>
            <a:endParaRPr lang="en-US" sz="1050" dirty="0"/>
          </a:p>
          <a:p>
            <a:pPr marL="342900" indent="-342900">
              <a:spcAft>
                <a:spcPts val="300"/>
              </a:spcAft>
              <a:buSzPct val="100000"/>
              <a:buChar char="▪"/>
            </a:pPr>
            <a:r>
              <a:rPr lang="en-US" sz="1050" dirty="0">
                <a:solidFill>
                  <a:srgbClr val="9CA9BF"/>
                </a:solidFill>
                <a:latin typeface="Calibri" pitchFamily="34" charset="0"/>
                <a:ea typeface="Calibri" pitchFamily="34" charset="-122"/>
                <a:cs typeface="Calibri" pitchFamily="34" charset="-120"/>
              </a:rPr>
              <a:t>Verifies speakers / fans / smoke detectors land on the correct MEP layers</a:t>
            </a:r>
            <a:endParaRPr lang="en-US" sz="1050" dirty="0"/>
          </a:p>
        </p:txBody>
      </p:sp>
      <p:sp>
        <p:nvSpPr>
          <p:cNvPr id="17" name="Shape 13"/>
          <p:cNvSpPr/>
          <p:nvPr/>
        </p:nvSpPr>
        <p:spPr>
          <a:xfrm>
            <a:off x="8229600" y="1554480"/>
            <a:ext cx="3703320" cy="2423160"/>
          </a:xfrm>
          <a:prstGeom prst="rect">
            <a:avLst/>
          </a:prstGeom>
          <a:solidFill>
            <a:srgbClr val="111B2E"/>
          </a:solidFill>
          <a:ln w="9525">
            <a:solidFill>
              <a:srgbClr val="1F2D45"/>
            </a:solidFill>
            <a:prstDash val="solid"/>
          </a:ln>
        </p:spPr>
        <p:txBody>
          <a:bodyPr/>
          <a:lstStyle/>
          <a:p>
            <a:endParaRPr lang="en-US"/>
          </a:p>
        </p:txBody>
      </p:sp>
      <p:sp>
        <p:nvSpPr>
          <p:cNvPr id="18" name="Shape 14"/>
          <p:cNvSpPr/>
          <p:nvPr/>
        </p:nvSpPr>
        <p:spPr>
          <a:xfrm>
            <a:off x="8229600" y="1554480"/>
            <a:ext cx="54864" cy="2423160"/>
          </a:xfrm>
          <a:prstGeom prst="rect">
            <a:avLst/>
          </a:prstGeom>
          <a:solidFill>
            <a:srgbClr val="22D3EE"/>
          </a:solidFill>
          <a:ln/>
        </p:spPr>
        <p:txBody>
          <a:bodyPr/>
          <a:lstStyle/>
          <a:p>
            <a:endParaRPr lang="en-US"/>
          </a:p>
        </p:txBody>
      </p:sp>
      <p:sp>
        <p:nvSpPr>
          <p:cNvPr id="19" name="Text 15"/>
          <p:cNvSpPr/>
          <p:nvPr/>
        </p:nvSpPr>
        <p:spPr>
          <a:xfrm>
            <a:off x="10881360" y="1600200"/>
            <a:ext cx="914400" cy="548640"/>
          </a:xfrm>
          <a:prstGeom prst="rect">
            <a:avLst/>
          </a:prstGeom>
          <a:noFill/>
          <a:ln/>
        </p:spPr>
        <p:txBody>
          <a:bodyPr wrap="square" lIns="0" tIns="0" rIns="0" bIns="0" rtlCol="0" anchor="ctr"/>
          <a:lstStyle/>
          <a:p>
            <a:pPr marL="0" indent="0" algn="r">
              <a:buNone/>
            </a:pPr>
            <a:r>
              <a:rPr lang="en-US" sz="3200" b="1" i="1" dirty="0">
                <a:solidFill>
                  <a:srgbClr val="0891B2">
                    <a:alpha val="70000"/>
                  </a:srgbClr>
                </a:solidFill>
                <a:latin typeface="Georgia" pitchFamily="34" charset="0"/>
                <a:ea typeface="Georgia" pitchFamily="34" charset="-122"/>
                <a:cs typeface="Georgia" pitchFamily="34" charset="-120"/>
              </a:rPr>
              <a:t>03</a:t>
            </a:r>
            <a:endParaRPr lang="en-US" sz="3200" dirty="0"/>
          </a:p>
        </p:txBody>
      </p:sp>
      <p:pic>
        <p:nvPicPr>
          <p:cNvPr id="20" name="Image 2" descr="preencoded.png"/>
          <p:cNvPicPr>
            <a:picLocks noChangeAspect="1"/>
          </p:cNvPicPr>
          <p:nvPr/>
        </p:nvPicPr>
        <p:blipFill>
          <a:blip r:embed="rId5"/>
          <a:stretch>
            <a:fillRect/>
          </a:stretch>
        </p:blipFill>
        <p:spPr>
          <a:xfrm>
            <a:off x="8430768" y="1737360"/>
            <a:ext cx="347472" cy="347472"/>
          </a:xfrm>
          <a:prstGeom prst="rect">
            <a:avLst/>
          </a:prstGeom>
        </p:spPr>
      </p:pic>
      <p:sp>
        <p:nvSpPr>
          <p:cNvPr id="21" name="Text 16"/>
          <p:cNvSpPr/>
          <p:nvPr/>
        </p:nvSpPr>
        <p:spPr>
          <a:xfrm>
            <a:off x="8869680" y="1719072"/>
            <a:ext cx="2011680" cy="411480"/>
          </a:xfrm>
          <a:prstGeom prst="rect">
            <a:avLst/>
          </a:prstGeom>
          <a:noFill/>
          <a:ln/>
        </p:spPr>
        <p:txBody>
          <a:bodyPr wrap="square" lIns="0" tIns="0" rIns="0" bIns="0" rtlCol="0" anchor="ctr"/>
          <a:lstStyle/>
          <a:p>
            <a:pPr marL="0" indent="0">
              <a:buNone/>
            </a:pPr>
            <a:r>
              <a:rPr lang="en-US" sz="1500" b="1" dirty="0">
                <a:solidFill>
                  <a:srgbClr val="E8EEF7"/>
                </a:solidFill>
                <a:latin typeface="Georgia" pitchFamily="34" charset="0"/>
                <a:ea typeface="Georgia" pitchFamily="34" charset="-122"/>
                <a:cs typeface="Georgia" pitchFamily="34" charset="-120"/>
              </a:rPr>
              <a:t>Cloud Infrastructure</a:t>
            </a:r>
            <a:endParaRPr lang="en-US" sz="1500" dirty="0"/>
          </a:p>
        </p:txBody>
      </p:sp>
      <p:sp>
        <p:nvSpPr>
          <p:cNvPr id="22" name="Text 17"/>
          <p:cNvSpPr/>
          <p:nvPr/>
        </p:nvSpPr>
        <p:spPr>
          <a:xfrm>
            <a:off x="8430768" y="2212848"/>
            <a:ext cx="3337560" cy="164592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9CA9BF"/>
                </a:solidFill>
                <a:latin typeface="Calibri" pitchFamily="34" charset="0"/>
                <a:ea typeface="Calibri" pitchFamily="34" charset="-122"/>
                <a:cs typeface="Calibri" pitchFamily="34" charset="-120"/>
              </a:rPr>
              <a:t>Spins up Revit cloud models in ACC from template via APS API (2-legged OAuth)</a:t>
            </a:r>
            <a:endParaRPr lang="en-US" sz="1050" dirty="0"/>
          </a:p>
          <a:p>
            <a:pPr marL="342900" indent="-342900">
              <a:spcAft>
                <a:spcPts val="300"/>
              </a:spcAft>
              <a:buSzPct val="100000"/>
              <a:buChar char="▪"/>
            </a:pPr>
            <a:r>
              <a:rPr lang="en-US" sz="1050" dirty="0">
                <a:solidFill>
                  <a:srgbClr val="9CA9BF"/>
                </a:solidFill>
                <a:latin typeface="Calibri" pitchFamily="34" charset="0"/>
                <a:ea typeface="Calibri" pitchFamily="34" charset="-122"/>
                <a:cs typeface="Calibri" pitchFamily="34" charset="-120"/>
              </a:rPr>
              <a:t>Uploads DWGs + CSVs to the right ACC project folder</a:t>
            </a:r>
            <a:endParaRPr lang="en-US" sz="1050" dirty="0"/>
          </a:p>
          <a:p>
            <a:pPr marL="342900" indent="-342900">
              <a:spcAft>
                <a:spcPts val="300"/>
              </a:spcAft>
              <a:buSzPct val="100000"/>
              <a:buChar char="▪"/>
            </a:pPr>
            <a:r>
              <a:rPr lang="en-US" sz="1050" dirty="0">
                <a:solidFill>
                  <a:srgbClr val="9CA9BF"/>
                </a:solidFill>
                <a:latin typeface="Calibri" pitchFamily="34" charset="0"/>
                <a:ea typeface="Calibri" pitchFamily="34" charset="-122"/>
                <a:cs typeface="Calibri" pitchFamily="34" charset="-120"/>
              </a:rPr>
              <a:t>Opens cloud models via ExternalEvent for safe UI-thread execution</a:t>
            </a:r>
            <a:endParaRPr lang="en-US" sz="1050" dirty="0"/>
          </a:p>
        </p:txBody>
      </p:sp>
      <p:sp>
        <p:nvSpPr>
          <p:cNvPr id="23" name="Shape 18"/>
          <p:cNvSpPr/>
          <p:nvPr/>
        </p:nvSpPr>
        <p:spPr>
          <a:xfrm>
            <a:off x="548640" y="4160520"/>
            <a:ext cx="3703320" cy="2423160"/>
          </a:xfrm>
          <a:prstGeom prst="rect">
            <a:avLst/>
          </a:prstGeom>
          <a:solidFill>
            <a:srgbClr val="111B2E"/>
          </a:solidFill>
          <a:ln w="9525">
            <a:solidFill>
              <a:srgbClr val="1F2D45"/>
            </a:solidFill>
            <a:prstDash val="solid"/>
          </a:ln>
        </p:spPr>
        <p:txBody>
          <a:bodyPr/>
          <a:lstStyle/>
          <a:p>
            <a:endParaRPr lang="en-US"/>
          </a:p>
        </p:txBody>
      </p:sp>
      <p:sp>
        <p:nvSpPr>
          <p:cNvPr id="24" name="Shape 19"/>
          <p:cNvSpPr/>
          <p:nvPr/>
        </p:nvSpPr>
        <p:spPr>
          <a:xfrm>
            <a:off x="548640" y="4160520"/>
            <a:ext cx="54864" cy="2423160"/>
          </a:xfrm>
          <a:prstGeom prst="rect">
            <a:avLst/>
          </a:prstGeom>
          <a:solidFill>
            <a:srgbClr val="22D3EE"/>
          </a:solidFill>
          <a:ln/>
        </p:spPr>
        <p:txBody>
          <a:bodyPr/>
          <a:lstStyle/>
          <a:p>
            <a:endParaRPr lang="en-US"/>
          </a:p>
        </p:txBody>
      </p:sp>
      <p:sp>
        <p:nvSpPr>
          <p:cNvPr id="25" name="Text 20"/>
          <p:cNvSpPr/>
          <p:nvPr/>
        </p:nvSpPr>
        <p:spPr>
          <a:xfrm>
            <a:off x="3200400" y="4206240"/>
            <a:ext cx="914400" cy="548640"/>
          </a:xfrm>
          <a:prstGeom prst="rect">
            <a:avLst/>
          </a:prstGeom>
          <a:noFill/>
          <a:ln/>
        </p:spPr>
        <p:txBody>
          <a:bodyPr wrap="square" lIns="0" tIns="0" rIns="0" bIns="0" rtlCol="0" anchor="ctr"/>
          <a:lstStyle/>
          <a:p>
            <a:pPr marL="0" indent="0" algn="r">
              <a:buNone/>
            </a:pPr>
            <a:r>
              <a:rPr lang="en-US" sz="3200" b="1" i="1" dirty="0">
                <a:solidFill>
                  <a:srgbClr val="0891B2">
                    <a:alpha val="70000"/>
                  </a:srgbClr>
                </a:solidFill>
                <a:latin typeface="Georgia" pitchFamily="34" charset="0"/>
                <a:ea typeface="Georgia" pitchFamily="34" charset="-122"/>
                <a:cs typeface="Georgia" pitchFamily="34" charset="-120"/>
              </a:rPr>
              <a:t>04</a:t>
            </a:r>
            <a:endParaRPr lang="en-US" sz="3200" dirty="0"/>
          </a:p>
        </p:txBody>
      </p:sp>
      <p:pic>
        <p:nvPicPr>
          <p:cNvPr id="26" name="Image 3" descr="preencoded.png"/>
          <p:cNvPicPr>
            <a:picLocks noChangeAspect="1"/>
          </p:cNvPicPr>
          <p:nvPr/>
        </p:nvPicPr>
        <p:blipFill>
          <a:blip r:embed="rId6"/>
          <a:stretch>
            <a:fillRect/>
          </a:stretch>
        </p:blipFill>
        <p:spPr>
          <a:xfrm>
            <a:off x="749808" y="4343400"/>
            <a:ext cx="347472" cy="347472"/>
          </a:xfrm>
          <a:prstGeom prst="rect">
            <a:avLst/>
          </a:prstGeom>
        </p:spPr>
      </p:pic>
      <p:sp>
        <p:nvSpPr>
          <p:cNvPr id="27" name="Text 21"/>
          <p:cNvSpPr/>
          <p:nvPr/>
        </p:nvSpPr>
        <p:spPr>
          <a:xfrm>
            <a:off x="1188720" y="4325112"/>
            <a:ext cx="2011680" cy="411480"/>
          </a:xfrm>
          <a:prstGeom prst="rect">
            <a:avLst/>
          </a:prstGeom>
          <a:noFill/>
          <a:ln/>
        </p:spPr>
        <p:txBody>
          <a:bodyPr wrap="square" lIns="0" tIns="0" rIns="0" bIns="0" rtlCol="0" anchor="ctr"/>
          <a:lstStyle/>
          <a:p>
            <a:pPr marL="0" indent="0">
              <a:buNone/>
            </a:pPr>
            <a:r>
              <a:rPr lang="en-US" sz="1500" b="1" dirty="0">
                <a:solidFill>
                  <a:srgbClr val="E8EEF7"/>
                </a:solidFill>
                <a:latin typeface="Georgia" pitchFamily="34" charset="0"/>
                <a:ea typeface="Georgia" pitchFamily="34" charset="-122"/>
                <a:cs typeface="Georgia" pitchFamily="34" charset="-120"/>
              </a:rPr>
              <a:t>Revit Model Setup (MCP)</a:t>
            </a:r>
            <a:endParaRPr lang="en-US" sz="1500" dirty="0"/>
          </a:p>
        </p:txBody>
      </p:sp>
      <p:sp>
        <p:nvSpPr>
          <p:cNvPr id="28" name="Text 22"/>
          <p:cNvSpPr/>
          <p:nvPr/>
        </p:nvSpPr>
        <p:spPr>
          <a:xfrm>
            <a:off x="749808" y="4818888"/>
            <a:ext cx="3337560" cy="164592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9CA9BF"/>
                </a:solidFill>
                <a:latin typeface="Calibri" pitchFamily="34" charset="0"/>
                <a:ea typeface="Calibri" pitchFamily="34" charset="-122"/>
                <a:cs typeface="Calibri" pitchFamily="34" charset="-120"/>
              </a:rPr>
              <a:t>Links CAD background, greys layers across all views, centers scope boxes &amp; equipment</a:t>
            </a:r>
            <a:endParaRPr lang="en-US" sz="1050" dirty="0"/>
          </a:p>
          <a:p>
            <a:pPr marL="342900" indent="-342900">
              <a:spcAft>
                <a:spcPts val="300"/>
              </a:spcAft>
              <a:buSzPct val="100000"/>
              <a:buChar char="▪"/>
            </a:pPr>
            <a:r>
              <a:rPr lang="en-US" sz="1050" dirty="0">
                <a:solidFill>
                  <a:srgbClr val="9CA9BF"/>
                </a:solidFill>
                <a:latin typeface="Calibri" pitchFamily="34" charset="0"/>
                <a:ea typeface="Calibri" pitchFamily="34" charset="-122"/>
                <a:cs typeface="Calibri" pitchFamily="34" charset="-120"/>
              </a:rPr>
              <a:t>Populates title block (name, address, project #, sq ft) + state-based cert numbers</a:t>
            </a:r>
            <a:endParaRPr lang="en-US" sz="1050" dirty="0"/>
          </a:p>
          <a:p>
            <a:pPr marL="342900" indent="-342900">
              <a:spcAft>
                <a:spcPts val="300"/>
              </a:spcAft>
              <a:buSzPct val="100000"/>
              <a:buChar char="▪"/>
            </a:pPr>
            <a:r>
              <a:rPr lang="en-US" sz="1050" dirty="0">
                <a:solidFill>
                  <a:srgbClr val="9CA9BF"/>
                </a:solidFill>
                <a:latin typeface="Calibri" pitchFamily="34" charset="0"/>
                <a:ea typeface="Calibri" pitchFamily="34" charset="-122"/>
                <a:cs typeface="Calibri" pitchFamily="34" charset="-120"/>
              </a:rPr>
              <a:t>Parses revisions, resets viewport positions, builds gridlines from CAD</a:t>
            </a:r>
            <a:endParaRPr lang="en-US" sz="1050" dirty="0"/>
          </a:p>
          <a:p>
            <a:pPr marL="342900" indent="-342900">
              <a:spcAft>
                <a:spcPts val="300"/>
              </a:spcAft>
              <a:buSzPct val="100000"/>
              <a:buChar char="▪"/>
            </a:pPr>
            <a:r>
              <a:rPr lang="en-US" sz="1050" dirty="0">
                <a:solidFill>
                  <a:srgbClr val="9CA9BF"/>
                </a:solidFill>
                <a:latin typeface="Calibri" pitchFamily="34" charset="0"/>
                <a:ea typeface="Calibri" pitchFamily="34" charset="-122"/>
                <a:cs typeface="Calibri" pitchFamily="34" charset="-120"/>
              </a:rPr>
              <a:t>Places Revit spaces from coord CSV with auto-tagging</a:t>
            </a:r>
            <a:endParaRPr lang="en-US" sz="1050" dirty="0"/>
          </a:p>
        </p:txBody>
      </p:sp>
      <p:sp>
        <p:nvSpPr>
          <p:cNvPr id="29" name="Shape 23"/>
          <p:cNvSpPr/>
          <p:nvPr/>
        </p:nvSpPr>
        <p:spPr>
          <a:xfrm>
            <a:off x="4389120" y="4160520"/>
            <a:ext cx="3703320" cy="2423160"/>
          </a:xfrm>
          <a:prstGeom prst="rect">
            <a:avLst/>
          </a:prstGeom>
          <a:solidFill>
            <a:srgbClr val="111B2E"/>
          </a:solidFill>
          <a:ln w="9525">
            <a:solidFill>
              <a:srgbClr val="1F2D45"/>
            </a:solidFill>
            <a:prstDash val="solid"/>
          </a:ln>
        </p:spPr>
        <p:txBody>
          <a:bodyPr/>
          <a:lstStyle/>
          <a:p>
            <a:endParaRPr lang="en-US"/>
          </a:p>
        </p:txBody>
      </p:sp>
      <p:sp>
        <p:nvSpPr>
          <p:cNvPr id="30" name="Shape 24"/>
          <p:cNvSpPr/>
          <p:nvPr/>
        </p:nvSpPr>
        <p:spPr>
          <a:xfrm>
            <a:off x="4389120" y="4160520"/>
            <a:ext cx="54864" cy="2423160"/>
          </a:xfrm>
          <a:prstGeom prst="rect">
            <a:avLst/>
          </a:prstGeom>
          <a:solidFill>
            <a:srgbClr val="22D3EE"/>
          </a:solidFill>
          <a:ln/>
        </p:spPr>
        <p:txBody>
          <a:bodyPr/>
          <a:lstStyle/>
          <a:p>
            <a:endParaRPr lang="en-US"/>
          </a:p>
        </p:txBody>
      </p:sp>
      <p:sp>
        <p:nvSpPr>
          <p:cNvPr id="31" name="Text 25"/>
          <p:cNvSpPr/>
          <p:nvPr/>
        </p:nvSpPr>
        <p:spPr>
          <a:xfrm>
            <a:off x="7040880" y="4206240"/>
            <a:ext cx="914400" cy="548640"/>
          </a:xfrm>
          <a:prstGeom prst="rect">
            <a:avLst/>
          </a:prstGeom>
          <a:noFill/>
          <a:ln/>
        </p:spPr>
        <p:txBody>
          <a:bodyPr wrap="square" lIns="0" tIns="0" rIns="0" bIns="0" rtlCol="0" anchor="ctr"/>
          <a:lstStyle/>
          <a:p>
            <a:pPr marL="0" indent="0" algn="r">
              <a:buNone/>
            </a:pPr>
            <a:r>
              <a:rPr lang="en-US" sz="3200" b="1" i="1" dirty="0">
                <a:solidFill>
                  <a:srgbClr val="0891B2">
                    <a:alpha val="70000"/>
                  </a:srgbClr>
                </a:solidFill>
                <a:latin typeface="Georgia" pitchFamily="34" charset="0"/>
                <a:ea typeface="Georgia" pitchFamily="34" charset="-122"/>
                <a:cs typeface="Georgia" pitchFamily="34" charset="-120"/>
              </a:rPr>
              <a:t>05</a:t>
            </a:r>
            <a:endParaRPr lang="en-US" sz="3200" dirty="0"/>
          </a:p>
        </p:txBody>
      </p:sp>
      <p:pic>
        <p:nvPicPr>
          <p:cNvPr id="32" name="Image 4" descr="preencoded.png"/>
          <p:cNvPicPr>
            <a:picLocks noChangeAspect="1"/>
          </p:cNvPicPr>
          <p:nvPr/>
        </p:nvPicPr>
        <p:blipFill>
          <a:blip r:embed="rId7"/>
          <a:stretch>
            <a:fillRect/>
          </a:stretch>
        </p:blipFill>
        <p:spPr>
          <a:xfrm>
            <a:off x="4590288" y="4343400"/>
            <a:ext cx="347472" cy="347472"/>
          </a:xfrm>
          <a:prstGeom prst="rect">
            <a:avLst/>
          </a:prstGeom>
        </p:spPr>
      </p:pic>
      <p:sp>
        <p:nvSpPr>
          <p:cNvPr id="33" name="Text 26"/>
          <p:cNvSpPr/>
          <p:nvPr/>
        </p:nvSpPr>
        <p:spPr>
          <a:xfrm>
            <a:off x="5029200" y="4325112"/>
            <a:ext cx="2011680" cy="411480"/>
          </a:xfrm>
          <a:prstGeom prst="rect">
            <a:avLst/>
          </a:prstGeom>
          <a:noFill/>
          <a:ln/>
        </p:spPr>
        <p:txBody>
          <a:bodyPr wrap="square" lIns="0" tIns="0" rIns="0" bIns="0" rtlCol="0" anchor="ctr"/>
          <a:lstStyle/>
          <a:p>
            <a:pPr marL="0" indent="0">
              <a:buNone/>
            </a:pPr>
            <a:r>
              <a:rPr lang="en-US" sz="1500" b="1" dirty="0">
                <a:solidFill>
                  <a:srgbClr val="E8EEF7"/>
                </a:solidFill>
                <a:latin typeface="Georgia" pitchFamily="34" charset="0"/>
                <a:ea typeface="Georgia" pitchFamily="34" charset="-122"/>
                <a:cs typeface="Georgia" pitchFamily="34" charset="-120"/>
              </a:rPr>
              <a:t>MEP Automation</a:t>
            </a:r>
            <a:endParaRPr lang="en-US" sz="1500" dirty="0"/>
          </a:p>
        </p:txBody>
      </p:sp>
      <p:sp>
        <p:nvSpPr>
          <p:cNvPr id="34" name="Text 27"/>
          <p:cNvSpPr/>
          <p:nvPr/>
        </p:nvSpPr>
        <p:spPr>
          <a:xfrm>
            <a:off x="4590288" y="4818888"/>
            <a:ext cx="3337560" cy="164592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9CA9BF"/>
                </a:solidFill>
                <a:latin typeface="Calibri" pitchFamily="34" charset="0"/>
                <a:ea typeface="Calibri" pitchFamily="34" charset="-122"/>
                <a:cs typeface="Calibri" pitchFamily="34" charset="-120"/>
              </a:rPr>
              <a:t>Imports YAML equipment profiles into Revit ExtensibleStorage</a:t>
            </a:r>
            <a:endParaRPr lang="en-US" sz="1050" dirty="0"/>
          </a:p>
          <a:p>
            <a:pPr marL="342900" indent="-342900">
              <a:spcAft>
                <a:spcPts val="300"/>
              </a:spcAft>
              <a:buSzPct val="100000"/>
              <a:buChar char="▪"/>
            </a:pPr>
            <a:r>
              <a:rPr lang="en-US" sz="1050" dirty="0">
                <a:solidFill>
                  <a:srgbClr val="9CA9BF"/>
                </a:solidFill>
                <a:latin typeface="Calibri" pitchFamily="34" charset="0"/>
                <a:ea typeface="Calibri" pitchFamily="34" charset="-122"/>
                <a:cs typeface="Calibri" pitchFamily="34" charset="-120"/>
              </a:rPr>
              <a:t>Places every electrical fixture from CSV, auto-maps CAD blocks → YAML labels</a:t>
            </a:r>
            <a:endParaRPr lang="en-US" sz="1050" dirty="0"/>
          </a:p>
          <a:p>
            <a:pPr marL="342900" indent="-342900">
              <a:spcAft>
                <a:spcPts val="300"/>
              </a:spcAft>
              <a:buSzPct val="100000"/>
              <a:buChar char="▪"/>
            </a:pPr>
            <a:r>
              <a:rPr lang="en-US" sz="1050" dirty="0">
                <a:solidFill>
                  <a:srgbClr val="9CA9BF"/>
                </a:solidFill>
                <a:latin typeface="Calibri" pitchFamily="34" charset="0"/>
                <a:ea typeface="Calibri" pitchFamily="34" charset="-122"/>
                <a:cs typeface="Calibri" pitchFamily="34" charset="-120"/>
              </a:rPr>
              <a:t>Super Circuit V5: headless circuit assignment with overflow logic across panels</a:t>
            </a:r>
            <a:endParaRPr lang="en-US" sz="1050" dirty="0"/>
          </a:p>
          <a:p>
            <a:pPr marL="342900" indent="-342900">
              <a:spcAft>
                <a:spcPts val="300"/>
              </a:spcAft>
              <a:buSzPct val="100000"/>
              <a:buChar char="▪"/>
            </a:pPr>
            <a:r>
              <a:rPr lang="en-US" sz="1050" dirty="0">
                <a:solidFill>
                  <a:srgbClr val="9CA9BF"/>
                </a:solidFill>
                <a:latin typeface="Calibri" pitchFamily="34" charset="0"/>
                <a:ea typeface="Calibri" pitchFamily="34" charset="-122"/>
                <a:cs typeface="Calibri" pitchFamily="34" charset="-120"/>
              </a:rPr>
              <a:t>Syncs the workshared model to central</a:t>
            </a:r>
            <a:endParaRPr lang="en-US" sz="1050" dirty="0"/>
          </a:p>
        </p:txBody>
      </p:sp>
      <p:sp>
        <p:nvSpPr>
          <p:cNvPr id="35" name="Shape 28"/>
          <p:cNvSpPr/>
          <p:nvPr/>
        </p:nvSpPr>
        <p:spPr>
          <a:xfrm>
            <a:off x="8229600" y="4160520"/>
            <a:ext cx="3703320" cy="2423160"/>
          </a:xfrm>
          <a:prstGeom prst="rect">
            <a:avLst/>
          </a:prstGeom>
          <a:solidFill>
            <a:srgbClr val="111B2E"/>
          </a:solidFill>
          <a:ln w="9525">
            <a:solidFill>
              <a:srgbClr val="1F2D45"/>
            </a:solidFill>
            <a:prstDash val="solid"/>
          </a:ln>
        </p:spPr>
        <p:txBody>
          <a:bodyPr/>
          <a:lstStyle/>
          <a:p>
            <a:endParaRPr lang="en-US"/>
          </a:p>
        </p:txBody>
      </p:sp>
      <p:sp>
        <p:nvSpPr>
          <p:cNvPr id="36" name="Shape 29"/>
          <p:cNvSpPr/>
          <p:nvPr/>
        </p:nvSpPr>
        <p:spPr>
          <a:xfrm>
            <a:off x="8229600" y="4160520"/>
            <a:ext cx="54864" cy="2423160"/>
          </a:xfrm>
          <a:prstGeom prst="rect">
            <a:avLst/>
          </a:prstGeom>
          <a:solidFill>
            <a:srgbClr val="22D3EE"/>
          </a:solidFill>
          <a:ln/>
        </p:spPr>
        <p:txBody>
          <a:bodyPr/>
          <a:lstStyle/>
          <a:p>
            <a:endParaRPr lang="en-US"/>
          </a:p>
        </p:txBody>
      </p:sp>
      <p:sp>
        <p:nvSpPr>
          <p:cNvPr id="37" name="Text 30"/>
          <p:cNvSpPr/>
          <p:nvPr/>
        </p:nvSpPr>
        <p:spPr>
          <a:xfrm>
            <a:off x="10881360" y="4206240"/>
            <a:ext cx="914400" cy="548640"/>
          </a:xfrm>
          <a:prstGeom prst="rect">
            <a:avLst/>
          </a:prstGeom>
          <a:noFill/>
          <a:ln/>
        </p:spPr>
        <p:txBody>
          <a:bodyPr wrap="square" lIns="0" tIns="0" rIns="0" bIns="0" rtlCol="0" anchor="ctr"/>
          <a:lstStyle/>
          <a:p>
            <a:pPr marL="0" indent="0" algn="r">
              <a:buNone/>
            </a:pPr>
            <a:r>
              <a:rPr lang="en-US" sz="3200" b="1" i="1" dirty="0">
                <a:solidFill>
                  <a:srgbClr val="0891B2">
                    <a:alpha val="70000"/>
                  </a:srgbClr>
                </a:solidFill>
                <a:latin typeface="Georgia" pitchFamily="34" charset="0"/>
                <a:ea typeface="Georgia" pitchFamily="34" charset="-122"/>
                <a:cs typeface="Georgia" pitchFamily="34" charset="-120"/>
              </a:rPr>
              <a:t>06</a:t>
            </a:r>
            <a:endParaRPr lang="en-US" sz="3200" dirty="0"/>
          </a:p>
        </p:txBody>
      </p:sp>
      <p:pic>
        <p:nvPicPr>
          <p:cNvPr id="38" name="Image 5" descr="preencoded.png"/>
          <p:cNvPicPr>
            <a:picLocks noChangeAspect="1"/>
          </p:cNvPicPr>
          <p:nvPr/>
        </p:nvPicPr>
        <p:blipFill>
          <a:blip r:embed="rId8"/>
          <a:stretch>
            <a:fillRect/>
          </a:stretch>
        </p:blipFill>
        <p:spPr>
          <a:xfrm>
            <a:off x="8430768" y="4343400"/>
            <a:ext cx="347472" cy="347472"/>
          </a:xfrm>
          <a:prstGeom prst="rect">
            <a:avLst/>
          </a:prstGeom>
        </p:spPr>
      </p:pic>
      <p:sp>
        <p:nvSpPr>
          <p:cNvPr id="39" name="Text 31"/>
          <p:cNvSpPr/>
          <p:nvPr/>
        </p:nvSpPr>
        <p:spPr>
          <a:xfrm>
            <a:off x="8869680" y="4325112"/>
            <a:ext cx="2011680" cy="411480"/>
          </a:xfrm>
          <a:prstGeom prst="rect">
            <a:avLst/>
          </a:prstGeom>
          <a:noFill/>
          <a:ln/>
        </p:spPr>
        <p:txBody>
          <a:bodyPr wrap="square" lIns="0" tIns="0" rIns="0" bIns="0" rtlCol="0" anchor="ctr"/>
          <a:lstStyle/>
          <a:p>
            <a:pPr marL="0" indent="0">
              <a:buNone/>
            </a:pPr>
            <a:r>
              <a:rPr lang="en-US" sz="1500" b="1" dirty="0">
                <a:solidFill>
                  <a:srgbClr val="E8EEF7"/>
                </a:solidFill>
                <a:latin typeface="Georgia" pitchFamily="34" charset="0"/>
                <a:ea typeface="Georgia" pitchFamily="34" charset="-122"/>
                <a:cs typeface="Georgia" pitchFamily="34" charset="-120"/>
              </a:rPr>
              <a:t>Utilities &amp; Toolkit</a:t>
            </a:r>
            <a:endParaRPr lang="en-US" sz="1500" dirty="0"/>
          </a:p>
        </p:txBody>
      </p:sp>
      <p:sp>
        <p:nvSpPr>
          <p:cNvPr id="40" name="Text 32"/>
          <p:cNvSpPr/>
          <p:nvPr/>
        </p:nvSpPr>
        <p:spPr>
          <a:xfrm>
            <a:off x="8430768" y="4818888"/>
            <a:ext cx="3337560" cy="164592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9CA9BF"/>
                </a:solidFill>
                <a:latin typeface="Calibri" pitchFamily="34" charset="0"/>
                <a:ea typeface="Calibri" pitchFamily="34" charset="-122"/>
                <a:cs typeface="Calibri" pitchFamily="34" charset="-120"/>
              </a:rPr>
              <a:t>ACC bulk-check, MEP layer audit, standalone block-rename fixer</a:t>
            </a:r>
            <a:endParaRPr lang="en-US" sz="1050" dirty="0"/>
          </a:p>
          <a:p>
            <a:pPr marL="342900" indent="-342900">
              <a:spcAft>
                <a:spcPts val="300"/>
              </a:spcAft>
              <a:buSzPct val="100000"/>
              <a:buChar char="▪"/>
            </a:pPr>
            <a:r>
              <a:rPr lang="en-US" sz="1050" dirty="0">
                <a:solidFill>
                  <a:srgbClr val="9CA9BF"/>
                </a:solidFill>
                <a:latin typeface="Calibri" pitchFamily="34" charset="0"/>
                <a:ea typeface="Calibri" pitchFamily="34" charset="-122"/>
                <a:cs typeface="Calibri" pitchFamily="34" charset="-120"/>
              </a:rPr>
              <a:t>Pure COM extractors, no .dxex templates needed</a:t>
            </a:r>
            <a:endParaRPr lang="en-US" sz="1050" dirty="0"/>
          </a:p>
          <a:p>
            <a:pPr marL="342900" indent="-342900">
              <a:spcAft>
                <a:spcPts val="300"/>
              </a:spcAft>
              <a:buSzPct val="100000"/>
              <a:buChar char="▪"/>
            </a:pPr>
            <a:r>
              <a:rPr lang="en-US" sz="1050" dirty="0">
                <a:solidFill>
                  <a:srgbClr val="9CA9BF"/>
                </a:solidFill>
                <a:latin typeface="Calibri" pitchFamily="34" charset="0"/>
                <a:ea typeface="Calibri" pitchFamily="34" charset="-122"/>
                <a:cs typeface="Calibri" pitchFamily="34" charset="-120"/>
              </a:rPr>
              <a:t>AutoCAD COM toolkit w/ IMessageFilter, reconnect, progress-aware iteration</a:t>
            </a:r>
            <a:endParaRPr lang="en-US" sz="1050" dirty="0"/>
          </a:p>
          <a:p>
            <a:pPr marL="342900" indent="-342900">
              <a:spcAft>
                <a:spcPts val="300"/>
              </a:spcAft>
              <a:buSzPct val="100000"/>
              <a:buChar char="▪"/>
            </a:pPr>
            <a:r>
              <a:rPr lang="en-US" sz="1050" dirty="0">
                <a:solidFill>
                  <a:srgbClr val="9CA9BF"/>
                </a:solidFill>
                <a:latin typeface="Calibri" pitchFamily="34" charset="0"/>
                <a:ea typeface="Calibri" pitchFamily="34" charset="-122"/>
                <a:cs typeface="Calibri" pitchFamily="34" charset="-120"/>
              </a:rPr>
              <a:t>20+ pre-built Revit ops + color-splash QA + Crystallize → permanent pyRevit buttons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548640" y="457200"/>
            <a:ext cx="411480" cy="54864"/>
          </a:xfrm>
          <a:prstGeom prst="rect">
            <a:avLst/>
          </a:prstGeom>
          <a:solidFill>
            <a:srgbClr val="22D3EE"/>
          </a:solidFill>
          <a:ln/>
        </p:spPr>
        <p:txBody>
          <a:bodyPr/>
          <a:lstStyle/>
          <a:p>
            <a:endParaRPr lang="en-US"/>
          </a:p>
        </p:txBody>
      </p:sp>
      <p:sp>
        <p:nvSpPr>
          <p:cNvPr id="3" name="Text 1"/>
          <p:cNvSpPr/>
          <p:nvPr/>
        </p:nvSpPr>
        <p:spPr>
          <a:xfrm>
            <a:off x="1051560" y="292608"/>
            <a:ext cx="5486400" cy="365760"/>
          </a:xfrm>
          <a:prstGeom prst="rect">
            <a:avLst/>
          </a:prstGeom>
          <a:noFill/>
          <a:ln/>
        </p:spPr>
        <p:txBody>
          <a:bodyPr wrap="square" lIns="0" tIns="0" rIns="0" bIns="0" rtlCol="0" anchor="ctr"/>
          <a:lstStyle/>
          <a:p>
            <a:pPr marL="0" indent="0">
              <a:buNone/>
            </a:pPr>
            <a:r>
              <a:rPr lang="en-US" sz="1100" b="1" kern="0" spc="400" dirty="0">
                <a:solidFill>
                  <a:srgbClr val="22D3EE"/>
                </a:solidFill>
                <a:latin typeface="Consolas" pitchFamily="34" charset="0"/>
                <a:ea typeface="Consolas" pitchFamily="34" charset="-122"/>
                <a:cs typeface="Consolas" pitchFamily="34" charset="-120"/>
              </a:rPr>
              <a:t>WHAT CHANGED</a:t>
            </a:r>
            <a:endParaRPr lang="en-US" sz="1100" dirty="0"/>
          </a:p>
        </p:txBody>
      </p:sp>
      <p:sp>
        <p:nvSpPr>
          <p:cNvPr id="4" name="Text 2"/>
          <p:cNvSpPr/>
          <p:nvPr/>
        </p:nvSpPr>
        <p:spPr>
          <a:xfrm>
            <a:off x="548640" y="621792"/>
            <a:ext cx="10972800" cy="640080"/>
          </a:xfrm>
          <a:prstGeom prst="rect">
            <a:avLst/>
          </a:prstGeom>
          <a:noFill/>
          <a:ln/>
        </p:spPr>
        <p:txBody>
          <a:bodyPr wrap="square" lIns="0" tIns="0" rIns="0" bIns="0" rtlCol="0" anchor="ctr"/>
          <a:lstStyle/>
          <a:p>
            <a:pPr marL="0" indent="0">
              <a:buNone/>
            </a:pPr>
            <a:r>
              <a:rPr lang="en-US" sz="3200" b="1" dirty="0">
                <a:solidFill>
                  <a:srgbClr val="E8EEF7"/>
                </a:solidFill>
                <a:latin typeface="Georgia" pitchFamily="34" charset="0"/>
                <a:ea typeface="Georgia" pitchFamily="34" charset="-122"/>
                <a:cs typeface="Georgia" pitchFamily="34" charset="-120"/>
              </a:rPr>
              <a:t>Manual checklist </a:t>
            </a:r>
            <a:r>
              <a:rPr lang="en-US" sz="3200" b="1" dirty="0">
                <a:solidFill>
                  <a:srgbClr val="22D3EE"/>
                </a:solidFill>
                <a:latin typeface="Georgia" pitchFamily="34" charset="0"/>
                <a:ea typeface="Georgia" pitchFamily="34" charset="-122"/>
                <a:cs typeface="Georgia" pitchFamily="34" charset="-120"/>
              </a:rPr>
              <a:t>→</a:t>
            </a:r>
            <a:r>
              <a:rPr lang="en-US" sz="3200" b="1" dirty="0">
                <a:solidFill>
                  <a:srgbClr val="E8EEF7"/>
                </a:solidFill>
                <a:latin typeface="Georgia" pitchFamily="34" charset="0"/>
                <a:ea typeface="Georgia" pitchFamily="34" charset="-122"/>
                <a:cs typeface="Georgia" pitchFamily="34" charset="-120"/>
              </a:rPr>
              <a:t> one conversation.</a:t>
            </a:r>
            <a:endParaRPr lang="en-US" sz="3200" dirty="0"/>
          </a:p>
        </p:txBody>
      </p:sp>
      <p:sp>
        <p:nvSpPr>
          <p:cNvPr id="5" name="Shape 3"/>
          <p:cNvSpPr/>
          <p:nvPr/>
        </p:nvSpPr>
        <p:spPr>
          <a:xfrm>
            <a:off x="548640" y="1417320"/>
            <a:ext cx="11064240" cy="548640"/>
          </a:xfrm>
          <a:prstGeom prst="rect">
            <a:avLst/>
          </a:prstGeom>
          <a:solidFill>
            <a:srgbClr val="162238"/>
          </a:solidFill>
          <a:ln w="12700">
            <a:solidFill>
              <a:srgbClr val="22D3EE"/>
            </a:solidFill>
            <a:prstDash val="solid"/>
          </a:ln>
        </p:spPr>
        <p:txBody>
          <a:bodyPr/>
          <a:lstStyle/>
          <a:p>
            <a:endParaRPr lang="en-US"/>
          </a:p>
        </p:txBody>
      </p:sp>
      <p:sp>
        <p:nvSpPr>
          <p:cNvPr id="6" name="Text 4"/>
          <p:cNvSpPr/>
          <p:nvPr/>
        </p:nvSpPr>
        <p:spPr>
          <a:xfrm>
            <a:off x="548640" y="1417320"/>
            <a:ext cx="11064240" cy="548640"/>
          </a:xfrm>
          <a:prstGeom prst="rect">
            <a:avLst/>
          </a:prstGeom>
          <a:noFill/>
          <a:ln/>
        </p:spPr>
        <p:txBody>
          <a:bodyPr wrap="square" lIns="0" tIns="0" rIns="0" bIns="0" rtlCol="0" anchor="ctr"/>
          <a:lstStyle/>
          <a:p>
            <a:pPr marL="0" indent="0" algn="ctr">
              <a:buNone/>
            </a:pPr>
            <a:r>
              <a:rPr lang="en-US" sz="1800" b="1" dirty="0">
                <a:solidFill>
                  <a:srgbClr val="22D3EE"/>
                </a:solidFill>
                <a:latin typeface="Georgia" pitchFamily="34" charset="0"/>
                <a:ea typeface="Georgia" pitchFamily="34" charset="-122"/>
                <a:cs typeface="Georgia" pitchFamily="34" charset="-120"/>
              </a:rPr>
              <a:t>4 to 5 hours saved</a:t>
            </a:r>
            <a:r>
              <a:rPr lang="en-US" sz="1800" dirty="0">
                <a:solidFill>
                  <a:srgbClr val="E8EEF7"/>
                </a:solidFill>
                <a:latin typeface="Georgia" pitchFamily="34" charset="0"/>
                <a:ea typeface="Georgia" pitchFamily="34" charset="-122"/>
                <a:cs typeface="Georgia" pitchFamily="34" charset="-120"/>
              </a:rPr>
              <a:t>  in project setup alone</a:t>
            </a:r>
            <a:endParaRPr lang="en-US" sz="1800" dirty="0"/>
          </a:p>
        </p:txBody>
      </p:sp>
      <p:sp>
        <p:nvSpPr>
          <p:cNvPr id="7" name="Shape 5"/>
          <p:cNvSpPr/>
          <p:nvPr/>
        </p:nvSpPr>
        <p:spPr>
          <a:xfrm>
            <a:off x="548640" y="2148840"/>
            <a:ext cx="5532120" cy="3657600"/>
          </a:xfrm>
          <a:prstGeom prst="rect">
            <a:avLst/>
          </a:prstGeom>
          <a:solidFill>
            <a:srgbClr val="111B2E"/>
          </a:solidFill>
          <a:ln w="9525">
            <a:solidFill>
              <a:srgbClr val="1F2D45"/>
            </a:solidFill>
            <a:prstDash val="solid"/>
          </a:ln>
        </p:spPr>
        <p:txBody>
          <a:bodyPr/>
          <a:lstStyle/>
          <a:p>
            <a:endParaRPr lang="en-US"/>
          </a:p>
        </p:txBody>
      </p:sp>
      <p:sp>
        <p:nvSpPr>
          <p:cNvPr id="8" name="Shape 6"/>
          <p:cNvSpPr/>
          <p:nvPr/>
        </p:nvSpPr>
        <p:spPr>
          <a:xfrm>
            <a:off x="548640" y="2148840"/>
            <a:ext cx="5532120" cy="73152"/>
          </a:xfrm>
          <a:prstGeom prst="rect">
            <a:avLst/>
          </a:prstGeom>
          <a:solidFill>
            <a:srgbClr val="F59E0B"/>
          </a:solidFill>
          <a:ln/>
        </p:spPr>
        <p:txBody>
          <a:bodyPr/>
          <a:lstStyle/>
          <a:p>
            <a:endParaRPr lang="en-US"/>
          </a:p>
        </p:txBody>
      </p:sp>
      <p:sp>
        <p:nvSpPr>
          <p:cNvPr id="9" name="Shape 7"/>
          <p:cNvSpPr/>
          <p:nvPr/>
        </p:nvSpPr>
        <p:spPr>
          <a:xfrm>
            <a:off x="777240" y="2377440"/>
            <a:ext cx="457200" cy="457200"/>
          </a:xfrm>
          <a:prstGeom prst="ellipse">
            <a:avLst/>
          </a:prstGeom>
          <a:solidFill>
            <a:srgbClr val="162238"/>
          </a:solidFill>
          <a:ln w="15875">
            <a:solidFill>
              <a:srgbClr val="F59E0B"/>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859536" y="2459736"/>
            <a:ext cx="292608" cy="292608"/>
          </a:xfrm>
          <a:prstGeom prst="rect">
            <a:avLst/>
          </a:prstGeom>
        </p:spPr>
      </p:pic>
      <p:sp>
        <p:nvSpPr>
          <p:cNvPr id="11" name="Text 8"/>
          <p:cNvSpPr/>
          <p:nvPr/>
        </p:nvSpPr>
        <p:spPr>
          <a:xfrm>
            <a:off x="1371600" y="2441448"/>
            <a:ext cx="4617720" cy="365760"/>
          </a:xfrm>
          <a:prstGeom prst="rect">
            <a:avLst/>
          </a:prstGeom>
          <a:noFill/>
          <a:ln/>
        </p:spPr>
        <p:txBody>
          <a:bodyPr wrap="square" lIns="0" tIns="0" rIns="0" bIns="0" rtlCol="0" anchor="ctr"/>
          <a:lstStyle/>
          <a:p>
            <a:pPr marL="0" indent="0">
              <a:buNone/>
            </a:pPr>
            <a:r>
              <a:rPr lang="en-US" sz="1200" b="1" kern="0" spc="400" dirty="0">
                <a:solidFill>
                  <a:srgbClr val="F59E0B"/>
                </a:solidFill>
                <a:latin typeface="Consolas" pitchFamily="34" charset="0"/>
                <a:ea typeface="Consolas" pitchFamily="34" charset="-122"/>
                <a:cs typeface="Consolas" pitchFamily="34" charset="-120"/>
              </a:rPr>
              <a:t>BEFORE</a:t>
            </a:r>
            <a:endParaRPr lang="en-US" sz="1200" dirty="0"/>
          </a:p>
        </p:txBody>
      </p:sp>
      <p:sp>
        <p:nvSpPr>
          <p:cNvPr id="12" name="Text 9"/>
          <p:cNvSpPr/>
          <p:nvPr/>
        </p:nvSpPr>
        <p:spPr>
          <a:xfrm>
            <a:off x="822960" y="2862072"/>
            <a:ext cx="4983480" cy="640080"/>
          </a:xfrm>
          <a:prstGeom prst="rect">
            <a:avLst/>
          </a:prstGeom>
          <a:noFill/>
          <a:ln/>
        </p:spPr>
        <p:txBody>
          <a:bodyPr wrap="square" lIns="0" tIns="0" rIns="0" bIns="0" rtlCol="0" anchor="ctr"/>
          <a:lstStyle/>
          <a:p>
            <a:pPr marL="0" indent="0">
              <a:buNone/>
            </a:pPr>
            <a:r>
              <a:rPr lang="en-US" sz="2200" b="1" dirty="0">
                <a:solidFill>
                  <a:srgbClr val="E8EEF7"/>
                </a:solidFill>
                <a:latin typeface="Georgia" pitchFamily="34" charset="0"/>
                <a:ea typeface="Georgia" pitchFamily="34" charset="-122"/>
                <a:cs typeface="Georgia" pitchFamily="34" charset="-120"/>
              </a:rPr>
              <a:t>Est. 20 to 25 hours per project</a:t>
            </a:r>
            <a:endParaRPr lang="en-US" sz="2200" dirty="0"/>
          </a:p>
        </p:txBody>
      </p:sp>
      <p:sp>
        <p:nvSpPr>
          <p:cNvPr id="13" name="Text 10"/>
          <p:cNvSpPr/>
          <p:nvPr/>
        </p:nvSpPr>
        <p:spPr>
          <a:xfrm>
            <a:off x="822960" y="3840480"/>
            <a:ext cx="5029200" cy="17830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9CA9BF"/>
                </a:solidFill>
                <a:latin typeface="Calibri" pitchFamily="34" charset="0"/>
                <a:ea typeface="Calibri" pitchFamily="34" charset="-122"/>
                <a:cs typeface="Calibri" pitchFamily="34" charset="-120"/>
              </a:rPr>
              <a:t>Outlook, ACC, AutoCAD, Revit, pyRevit: five apps deep</a:t>
            </a:r>
            <a:endParaRPr lang="en-US" sz="1300" dirty="0"/>
          </a:p>
          <a:p>
            <a:pPr marL="342900" indent="-342900">
              <a:spcAft>
                <a:spcPts val="500"/>
              </a:spcAft>
              <a:buSzPct val="100000"/>
              <a:buChar char="▪"/>
            </a:pPr>
            <a:r>
              <a:rPr lang="en-US" sz="1300" dirty="0">
                <a:solidFill>
                  <a:srgbClr val="9CA9BF"/>
                </a:solidFill>
                <a:latin typeface="Calibri" pitchFamily="34" charset="0"/>
                <a:ea typeface="Calibri" pitchFamily="34" charset="-122"/>
                <a:cs typeface="Calibri" pitchFamily="34" charset="-120"/>
              </a:rPr>
              <a:t>Endless copy-paste between CSVs, sheets, and parameters</a:t>
            </a:r>
            <a:endParaRPr lang="en-US" sz="1300" dirty="0"/>
          </a:p>
          <a:p>
            <a:pPr marL="342900" indent="-342900">
              <a:spcAft>
                <a:spcPts val="500"/>
              </a:spcAft>
              <a:buSzPct val="100000"/>
              <a:buChar char="▪"/>
            </a:pPr>
            <a:r>
              <a:rPr lang="en-US" sz="1300" dirty="0">
                <a:solidFill>
                  <a:srgbClr val="9CA9BF"/>
                </a:solidFill>
                <a:latin typeface="Calibri" pitchFamily="34" charset="0"/>
                <a:ea typeface="Calibri" pitchFamily="34" charset="-122"/>
                <a:cs typeface="Calibri" pitchFamily="34" charset="-120"/>
              </a:rPr>
              <a:t>Manual block renames, layer audits, gridline rebuilds</a:t>
            </a:r>
            <a:endParaRPr lang="en-US" sz="1300" dirty="0"/>
          </a:p>
          <a:p>
            <a:pPr marL="342900" indent="-342900">
              <a:buSzPct val="100000"/>
              <a:buChar char="▪"/>
            </a:pPr>
            <a:r>
              <a:rPr lang="en-US" sz="1300" dirty="0">
                <a:solidFill>
                  <a:srgbClr val="9CA9BF"/>
                </a:solidFill>
                <a:latin typeface="Calibri" pitchFamily="34" charset="0"/>
                <a:ea typeface="Calibri" pitchFamily="34" charset="-122"/>
                <a:cs typeface="Calibri" pitchFamily="34" charset="-120"/>
              </a:rPr>
              <a:t>Circuiting one panel at a time, by hand</a:t>
            </a:r>
            <a:endParaRPr lang="en-US" sz="1300" dirty="0"/>
          </a:p>
        </p:txBody>
      </p:sp>
      <p:sp>
        <p:nvSpPr>
          <p:cNvPr id="14" name="Shape 11"/>
          <p:cNvSpPr/>
          <p:nvPr/>
        </p:nvSpPr>
        <p:spPr>
          <a:xfrm>
            <a:off x="6629400" y="2148840"/>
            <a:ext cx="5532120" cy="3657600"/>
          </a:xfrm>
          <a:prstGeom prst="rect">
            <a:avLst/>
          </a:prstGeom>
          <a:solidFill>
            <a:srgbClr val="111B2E"/>
          </a:solidFill>
          <a:ln w="9525">
            <a:solidFill>
              <a:srgbClr val="1F2D45"/>
            </a:solidFill>
            <a:prstDash val="solid"/>
          </a:ln>
        </p:spPr>
        <p:txBody>
          <a:bodyPr/>
          <a:lstStyle/>
          <a:p>
            <a:endParaRPr lang="en-US"/>
          </a:p>
        </p:txBody>
      </p:sp>
      <p:sp>
        <p:nvSpPr>
          <p:cNvPr id="15" name="Shape 12"/>
          <p:cNvSpPr/>
          <p:nvPr/>
        </p:nvSpPr>
        <p:spPr>
          <a:xfrm>
            <a:off x="6629400" y="2148840"/>
            <a:ext cx="5532120" cy="73152"/>
          </a:xfrm>
          <a:prstGeom prst="rect">
            <a:avLst/>
          </a:prstGeom>
          <a:solidFill>
            <a:srgbClr val="22D3EE"/>
          </a:solidFill>
          <a:ln/>
        </p:spPr>
        <p:txBody>
          <a:bodyPr/>
          <a:lstStyle/>
          <a:p>
            <a:endParaRPr lang="en-US"/>
          </a:p>
        </p:txBody>
      </p:sp>
      <p:sp>
        <p:nvSpPr>
          <p:cNvPr id="16" name="Shape 13"/>
          <p:cNvSpPr/>
          <p:nvPr/>
        </p:nvSpPr>
        <p:spPr>
          <a:xfrm>
            <a:off x="6858000" y="2377440"/>
            <a:ext cx="457200" cy="457200"/>
          </a:xfrm>
          <a:prstGeom prst="ellipse">
            <a:avLst/>
          </a:prstGeom>
          <a:solidFill>
            <a:srgbClr val="162238"/>
          </a:solidFill>
          <a:ln w="15875">
            <a:solidFill>
              <a:srgbClr val="22D3EE"/>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6940296" y="2459736"/>
            <a:ext cx="292608" cy="292608"/>
          </a:xfrm>
          <a:prstGeom prst="rect">
            <a:avLst/>
          </a:prstGeom>
        </p:spPr>
      </p:pic>
      <p:sp>
        <p:nvSpPr>
          <p:cNvPr id="18" name="Text 14"/>
          <p:cNvSpPr/>
          <p:nvPr/>
        </p:nvSpPr>
        <p:spPr>
          <a:xfrm>
            <a:off x="7452360" y="2441448"/>
            <a:ext cx="4617720" cy="365760"/>
          </a:xfrm>
          <a:prstGeom prst="rect">
            <a:avLst/>
          </a:prstGeom>
          <a:noFill/>
          <a:ln/>
        </p:spPr>
        <p:txBody>
          <a:bodyPr wrap="square" lIns="0" tIns="0" rIns="0" bIns="0" rtlCol="0" anchor="ctr"/>
          <a:lstStyle/>
          <a:p>
            <a:pPr marL="0" indent="0">
              <a:buNone/>
            </a:pPr>
            <a:r>
              <a:rPr lang="en-US" sz="1200" b="1" kern="0" spc="400" dirty="0">
                <a:solidFill>
                  <a:srgbClr val="22D3EE"/>
                </a:solidFill>
                <a:latin typeface="Consolas" pitchFamily="34" charset="0"/>
                <a:ea typeface="Consolas" pitchFamily="34" charset="-122"/>
                <a:cs typeface="Consolas" pitchFamily="34" charset="-120"/>
              </a:rPr>
              <a:t>NOW</a:t>
            </a:r>
            <a:endParaRPr lang="en-US" sz="1200" dirty="0"/>
          </a:p>
        </p:txBody>
      </p:sp>
      <p:sp>
        <p:nvSpPr>
          <p:cNvPr id="19" name="Text 15"/>
          <p:cNvSpPr/>
          <p:nvPr/>
        </p:nvSpPr>
        <p:spPr>
          <a:xfrm>
            <a:off x="6903720" y="2862072"/>
            <a:ext cx="4983480" cy="640080"/>
          </a:xfrm>
          <a:prstGeom prst="rect">
            <a:avLst/>
          </a:prstGeom>
          <a:noFill/>
          <a:ln/>
        </p:spPr>
        <p:txBody>
          <a:bodyPr wrap="square" lIns="0" tIns="0" rIns="0" bIns="0" rtlCol="0" anchor="ctr"/>
          <a:lstStyle/>
          <a:p>
            <a:pPr marL="0" indent="0">
              <a:buNone/>
            </a:pPr>
            <a:r>
              <a:rPr lang="en-US" sz="2200" b="1" dirty="0">
                <a:solidFill>
                  <a:srgbClr val="E8EEF7"/>
                </a:solidFill>
                <a:latin typeface="Georgia" pitchFamily="34" charset="0"/>
                <a:ea typeface="Georgia" pitchFamily="34" charset="-122"/>
                <a:cs typeface="Georgia" pitchFamily="34" charset="-120"/>
              </a:rPr>
              <a:t>Under 1 hour, supervised agent</a:t>
            </a:r>
            <a:endParaRPr lang="en-US" sz="2200" dirty="0"/>
          </a:p>
        </p:txBody>
      </p:sp>
      <p:sp>
        <p:nvSpPr>
          <p:cNvPr id="20" name="Text 16"/>
          <p:cNvSpPr/>
          <p:nvPr/>
        </p:nvSpPr>
        <p:spPr>
          <a:xfrm>
            <a:off x="6903720" y="3840480"/>
            <a:ext cx="5029200" cy="17830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9CA9BF"/>
                </a:solidFill>
                <a:latin typeface="Calibri" pitchFamily="34" charset="0"/>
                <a:ea typeface="Calibri" pitchFamily="34" charset="-122"/>
                <a:cs typeface="Calibri" pitchFamily="34" charset="-120"/>
              </a:rPr>
              <a:t>Agent owns the inbox, ACC, CAD, the cloud, and Revit</a:t>
            </a:r>
            <a:endParaRPr lang="en-US" sz="1300" dirty="0"/>
          </a:p>
          <a:p>
            <a:pPr marL="342900" indent="-342900">
              <a:spcAft>
                <a:spcPts val="500"/>
              </a:spcAft>
              <a:buSzPct val="100000"/>
              <a:buChar char="▪"/>
            </a:pPr>
            <a:r>
              <a:rPr lang="en-US" sz="1300" dirty="0">
                <a:solidFill>
                  <a:srgbClr val="9CA9BF"/>
                </a:solidFill>
                <a:latin typeface="Calibri" pitchFamily="34" charset="0"/>
                <a:ea typeface="Calibri" pitchFamily="34" charset="-122"/>
                <a:cs typeface="Calibri" pitchFamily="34" charset="-120"/>
              </a:rPr>
              <a:t>AI catches block mismatches per-project, no static maps</a:t>
            </a:r>
            <a:endParaRPr lang="en-US" sz="1300" dirty="0"/>
          </a:p>
          <a:p>
            <a:pPr marL="342900" indent="-342900">
              <a:spcAft>
                <a:spcPts val="500"/>
              </a:spcAft>
              <a:buSzPct val="100000"/>
              <a:buChar char="▪"/>
            </a:pPr>
            <a:r>
              <a:rPr lang="en-US" sz="1300" dirty="0">
                <a:solidFill>
                  <a:srgbClr val="9CA9BF"/>
                </a:solidFill>
                <a:latin typeface="Calibri" pitchFamily="34" charset="0"/>
                <a:ea typeface="Calibri" pitchFamily="34" charset="-122"/>
                <a:cs typeface="Calibri" pitchFamily="34" charset="-120"/>
              </a:rPr>
              <a:t>Headless circuiting w/ overflow logic across panels</a:t>
            </a:r>
            <a:endParaRPr lang="en-US" sz="1300" dirty="0"/>
          </a:p>
          <a:p>
            <a:pPr marL="342900" indent="-342900">
              <a:buSzPct val="100000"/>
              <a:buChar char="▪"/>
            </a:pPr>
            <a:r>
              <a:rPr lang="en-US" sz="1300" dirty="0">
                <a:solidFill>
                  <a:srgbClr val="9CA9BF"/>
                </a:solidFill>
                <a:latin typeface="Calibri" pitchFamily="34" charset="0"/>
                <a:ea typeface="Calibri" pitchFamily="34" charset="-122"/>
                <a:cs typeface="Calibri" pitchFamily="34" charset="-120"/>
              </a:rPr>
              <a:t>Human only confirms at checkpoints</a:t>
            </a:r>
            <a:endParaRPr lang="en-US" sz="1300" dirty="0"/>
          </a:p>
        </p:txBody>
      </p:sp>
      <p:sp>
        <p:nvSpPr>
          <p:cNvPr id="21" name="Shape 17"/>
          <p:cNvSpPr/>
          <p:nvPr/>
        </p:nvSpPr>
        <p:spPr>
          <a:xfrm>
            <a:off x="548640" y="5897880"/>
            <a:ext cx="11064240" cy="685800"/>
          </a:xfrm>
          <a:prstGeom prst="rect">
            <a:avLst/>
          </a:prstGeom>
          <a:solidFill>
            <a:srgbClr val="162238"/>
          </a:solidFill>
          <a:ln w="9525">
            <a:solidFill>
              <a:srgbClr val="1F2D45"/>
            </a:solidFill>
            <a:prstDash val="solid"/>
          </a:ln>
        </p:spPr>
        <p:txBody>
          <a:bodyPr/>
          <a:lstStyle/>
          <a:p>
            <a:endParaRPr lang="en-US"/>
          </a:p>
        </p:txBody>
      </p:sp>
      <p:sp>
        <p:nvSpPr>
          <p:cNvPr id="22" name="Shape 18"/>
          <p:cNvSpPr/>
          <p:nvPr/>
        </p:nvSpPr>
        <p:spPr>
          <a:xfrm>
            <a:off x="548640" y="5897880"/>
            <a:ext cx="73152" cy="685800"/>
          </a:xfrm>
          <a:prstGeom prst="rect">
            <a:avLst/>
          </a:prstGeom>
          <a:solidFill>
            <a:srgbClr val="22D3EE"/>
          </a:solidFill>
          <a:ln/>
        </p:spPr>
        <p:txBody>
          <a:bodyPr/>
          <a:lstStyle/>
          <a:p>
            <a:endParaRPr lang="en-US"/>
          </a:p>
        </p:txBody>
      </p:sp>
      <p:sp>
        <p:nvSpPr>
          <p:cNvPr id="23" name="Text 19"/>
          <p:cNvSpPr/>
          <p:nvPr/>
        </p:nvSpPr>
        <p:spPr>
          <a:xfrm>
            <a:off x="868680" y="5943600"/>
            <a:ext cx="10698480" cy="594360"/>
          </a:xfrm>
          <a:prstGeom prst="rect">
            <a:avLst/>
          </a:prstGeom>
          <a:noFill/>
          <a:ln/>
        </p:spPr>
        <p:txBody>
          <a:bodyPr wrap="square" lIns="0" tIns="0" rIns="0" bIns="0" rtlCol="0" anchor="ctr"/>
          <a:lstStyle/>
          <a:p>
            <a:pPr marL="0" indent="0">
              <a:buNone/>
            </a:pPr>
            <a:r>
              <a:rPr lang="en-US" sz="1600" b="1" dirty="0">
                <a:solidFill>
                  <a:srgbClr val="22D3EE"/>
                </a:solidFill>
                <a:latin typeface="Georgia" pitchFamily="34" charset="0"/>
                <a:ea typeface="Georgia" pitchFamily="34" charset="-122"/>
                <a:cs typeface="Georgia" pitchFamily="34" charset="-120"/>
              </a:rPr>
              <a:t>The point: </a:t>
            </a:r>
            <a:r>
              <a:rPr lang="en-US" sz="1600" dirty="0">
                <a:solidFill>
                  <a:srgbClr val="E8EEF7"/>
                </a:solidFill>
                <a:latin typeface="Georgia" pitchFamily="34" charset="0"/>
                <a:ea typeface="Georgia" pitchFamily="34" charset="-122"/>
                <a:cs typeface="Georgia" pitchFamily="34" charset="-120"/>
              </a:rPr>
              <a:t>the agent doesn't just assist the workflow, it </a:t>
            </a:r>
            <a:r>
              <a:rPr lang="en-US" sz="1600" b="1" i="1" dirty="0">
                <a:solidFill>
                  <a:srgbClr val="E8EEF7"/>
                </a:solidFill>
                <a:latin typeface="Georgia" pitchFamily="34" charset="0"/>
                <a:ea typeface="Georgia" pitchFamily="34" charset="-122"/>
                <a:cs typeface="Georgia" pitchFamily="34" charset="-120"/>
              </a:rPr>
              <a:t>is</a:t>
            </a:r>
            <a:r>
              <a:rPr lang="en-US" sz="1600" dirty="0">
                <a:solidFill>
                  <a:srgbClr val="E8EEF7"/>
                </a:solidFill>
                <a:latin typeface="Georgia" pitchFamily="34" charset="0"/>
                <a:ea typeface="Georgia" pitchFamily="34" charset="-122"/>
                <a:cs typeface="Georgia" pitchFamily="34" charset="-120"/>
              </a:rPr>
              <a:t> the workflow.</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548640" y="457200"/>
            <a:ext cx="411480" cy="54864"/>
          </a:xfrm>
          <a:prstGeom prst="rect">
            <a:avLst/>
          </a:prstGeom>
          <a:solidFill>
            <a:srgbClr val="22D3EE"/>
          </a:solidFill>
          <a:ln/>
        </p:spPr>
        <p:txBody>
          <a:bodyPr/>
          <a:lstStyle/>
          <a:p>
            <a:endParaRPr lang="en-US"/>
          </a:p>
        </p:txBody>
      </p:sp>
      <p:sp>
        <p:nvSpPr>
          <p:cNvPr id="3" name="Text 1"/>
          <p:cNvSpPr/>
          <p:nvPr/>
        </p:nvSpPr>
        <p:spPr>
          <a:xfrm>
            <a:off x="1051560" y="292608"/>
            <a:ext cx="5486400" cy="365760"/>
          </a:xfrm>
          <a:prstGeom prst="rect">
            <a:avLst/>
          </a:prstGeom>
          <a:noFill/>
          <a:ln/>
        </p:spPr>
        <p:txBody>
          <a:bodyPr wrap="square" lIns="0" tIns="0" rIns="0" bIns="0" rtlCol="0" anchor="ctr"/>
          <a:lstStyle/>
          <a:p>
            <a:pPr marL="0" indent="0">
              <a:buNone/>
            </a:pPr>
            <a:r>
              <a:rPr lang="en-US" sz="1100" b="1" kern="0" spc="400" dirty="0">
                <a:solidFill>
                  <a:srgbClr val="22D3EE"/>
                </a:solidFill>
                <a:latin typeface="Consolas" pitchFamily="34" charset="0"/>
                <a:ea typeface="Consolas" pitchFamily="34" charset="-122"/>
                <a:cs typeface="Consolas" pitchFamily="34" charset="-120"/>
              </a:rPr>
              <a:t>LIVE RUN</a:t>
            </a:r>
            <a:endParaRPr lang="en-US" sz="1100" dirty="0"/>
          </a:p>
        </p:txBody>
      </p:sp>
      <p:sp>
        <p:nvSpPr>
          <p:cNvPr id="4" name="Text 2"/>
          <p:cNvSpPr/>
          <p:nvPr/>
        </p:nvSpPr>
        <p:spPr>
          <a:xfrm>
            <a:off x="548640" y="621792"/>
            <a:ext cx="10972800" cy="640080"/>
          </a:xfrm>
          <a:prstGeom prst="rect">
            <a:avLst/>
          </a:prstGeom>
          <a:noFill/>
          <a:ln/>
        </p:spPr>
        <p:txBody>
          <a:bodyPr wrap="square" lIns="0" tIns="0" rIns="0" bIns="0" rtlCol="0" anchor="ctr"/>
          <a:lstStyle/>
          <a:p>
            <a:pPr marL="0" indent="0">
              <a:buNone/>
            </a:pPr>
            <a:r>
              <a:rPr lang="en-US" sz="2800" b="1" dirty="0">
                <a:solidFill>
                  <a:srgbClr val="E8EEF7"/>
                </a:solidFill>
                <a:latin typeface="Georgia" pitchFamily="34" charset="0"/>
                <a:ea typeface="Georgia" pitchFamily="34" charset="-122"/>
                <a:cs typeface="Georgia" pitchFamily="34" charset="-120"/>
              </a:rPr>
              <a:t>60 minute convo (condensed to 30 sec)</a:t>
            </a:r>
            <a:endParaRPr lang="en-US" sz="2800" dirty="0"/>
          </a:p>
        </p:txBody>
      </p:sp>
      <p:sp>
        <p:nvSpPr>
          <p:cNvPr id="5" name="Shape 3"/>
          <p:cNvSpPr/>
          <p:nvPr/>
        </p:nvSpPr>
        <p:spPr>
          <a:xfrm>
            <a:off x="1700784" y="1481328"/>
            <a:ext cx="8759952" cy="4992624"/>
          </a:xfrm>
          <a:prstGeom prst="rect">
            <a:avLst/>
          </a:prstGeom>
          <a:solidFill>
            <a:srgbClr val="111B2E"/>
          </a:solidFill>
          <a:ln w="15875">
            <a:solidFill>
              <a:srgbClr val="22D3EE"/>
            </a:solidFill>
            <a:prstDash val="solid"/>
          </a:ln>
        </p:spPr>
        <p:txBody>
          <a:bodyPr/>
          <a:lstStyle/>
          <a:p>
            <a:endParaRPr lang="en-US"/>
          </a:p>
        </p:txBody>
      </p:sp>
      <p:pic>
        <p:nvPicPr>
          <p:cNvPr id="6"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773936" y="1554480"/>
            <a:ext cx="8613648" cy="4846320"/>
          </a:xfrm>
          <a:prstGeom prst="rect">
            <a:avLst/>
          </a:prstGeom>
        </p:spPr>
      </p:pic>
      <p:sp>
        <p:nvSpPr>
          <p:cNvPr id="7" name="Text 4"/>
          <p:cNvSpPr/>
          <p:nvPr/>
        </p:nvSpPr>
        <p:spPr>
          <a:xfrm>
            <a:off x="548640" y="6473952"/>
            <a:ext cx="11064240" cy="320040"/>
          </a:xfrm>
          <a:prstGeom prst="rect">
            <a:avLst/>
          </a:prstGeom>
          <a:noFill/>
          <a:ln/>
        </p:spPr>
        <p:txBody>
          <a:bodyPr wrap="square" lIns="0" tIns="0" rIns="0" bIns="0" rtlCol="0" anchor="ctr"/>
          <a:lstStyle/>
          <a:p>
            <a:pPr marL="0" indent="0" algn="ctr">
              <a:buNone/>
            </a:pPr>
            <a:r>
              <a:rPr lang="en-US" sz="1200" i="1" dirty="0">
                <a:solidFill>
                  <a:srgbClr val="9CA9BF"/>
                </a:solidFill>
                <a:latin typeface="Calibri" pitchFamily="34" charset="0"/>
                <a:ea typeface="Calibri" pitchFamily="34" charset="-122"/>
                <a:cs typeface="Calibri" pitchFamily="34" charset="-120"/>
              </a:rPr>
              <a:t>Click play. Full project kickoff start to finish, 26x speed, no human keystrokes inside Revit or AutoCAD.</a:t>
            </a:r>
            <a:endParaRPr lang="en-US" sz="12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57200"/>
            <a:ext cx="411480"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1560" y="292608"/>
            <a:ext cx="731520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00" b="1">
                <a:solidFill>
                  <a:srgbClr val="22D3EE"/>
                </a:solidFill>
                <a:latin typeface="Consolas"/>
              </a:rPr>
              <a:t>PROFILE CAPTURE</a:t>
            </a:r>
          </a:p>
        </p:txBody>
      </p:sp>
      <p:sp>
        <p:nvSpPr>
          <p:cNvPr id="4" name="Rectangle 3"/>
          <p:cNvSpPr/>
          <p:nvPr/>
        </p:nvSpPr>
        <p:spPr>
          <a:xfrm>
            <a:off x="548640" y="621792"/>
            <a:ext cx="10972800" cy="6400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3200" b="1">
                <a:solidFill>
                  <a:srgbClr val="E8EEF7"/>
                </a:solidFill>
                <a:latin typeface="Georgia"/>
              </a:rPr>
              <a:t>Capture once, place forever.</a:t>
            </a:r>
          </a:p>
        </p:txBody>
      </p:sp>
      <p:sp>
        <p:nvSpPr>
          <p:cNvPr id="5" name="Rectangle 4"/>
          <p:cNvSpPr/>
          <p:nvPr/>
        </p:nvSpPr>
        <p:spPr>
          <a:xfrm>
            <a:off x="548640" y="1280160"/>
            <a:ext cx="10972800"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400" b="0">
                <a:solidFill>
                  <a:srgbClr val="9CA9BF"/>
                </a:solidFill>
                <a:latin typeface="Calibri"/>
              </a:rPr>
              <a:t>Walk a real fixture in Revit; the panel records every linked child, parameter value, offset, and annotation as a YAML profile. The next project starts from that captured truth, not a blank slate.</a:t>
            </a:r>
          </a:p>
        </p:txBody>
      </p:sp>
      <p:sp>
        <p:nvSpPr>
          <p:cNvPr id="6" name="Rectangle 5"/>
          <p:cNvSpPr/>
          <p:nvPr/>
        </p:nvSpPr>
        <p:spPr>
          <a:xfrm>
            <a:off x="548640" y="2011680"/>
            <a:ext cx="3703320" cy="2423160"/>
          </a:xfrm>
          <a:prstGeom prst="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011680"/>
            <a:ext cx="54864" cy="242316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46119" y="2057400"/>
            <a:ext cx="914400" cy="5486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3200" b="1">
                <a:solidFill>
                  <a:srgbClr val="0891B2"/>
                </a:solidFill>
                <a:latin typeface="Georgia"/>
              </a:rPr>
              <a:t>01</a:t>
            </a:r>
          </a:p>
        </p:txBody>
      </p:sp>
      <p:sp>
        <p:nvSpPr>
          <p:cNvPr id="9" name="Rectangle 8"/>
          <p:cNvSpPr/>
          <p:nvPr/>
        </p:nvSpPr>
        <p:spPr>
          <a:xfrm>
            <a:off x="749808" y="2176272"/>
            <a:ext cx="242316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500" b="1">
                <a:solidFill>
                  <a:srgbClr val="E8EEF7"/>
                </a:solidFill>
                <a:latin typeface="Georgia"/>
              </a:rPr>
              <a:t>Pick the parent</a:t>
            </a:r>
          </a:p>
        </p:txBody>
      </p:sp>
      <p:sp>
        <p:nvSpPr>
          <p:cNvPr id="10" name="Rectangle 9"/>
          <p:cNvSpPr/>
          <p:nvPr/>
        </p:nvSpPr>
        <p:spPr>
          <a:xfrm>
            <a:off x="749808" y="2670048"/>
            <a:ext cx="3337560" cy="164591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050" b="0">
                <a:solidFill>
                  <a:srgbClr val="9CA9BF"/>
                </a:solidFill>
                <a:latin typeface="Calibri"/>
              </a:rPr>
              <a:t>User selects an equipment parent (case, freezer, millwork, etc.). The agent walks every linked element via GetDependentElements and explicit picks; nothing else is guessed.
Element_Linker JSON gets stamped on every captured element so audits can prove it back to its profile later.</a:t>
            </a:r>
          </a:p>
        </p:txBody>
      </p:sp>
      <p:sp>
        <p:nvSpPr>
          <p:cNvPr id="11" name="Rectangle 10"/>
          <p:cNvSpPr/>
          <p:nvPr/>
        </p:nvSpPr>
        <p:spPr>
          <a:xfrm>
            <a:off x="4389120" y="2011680"/>
            <a:ext cx="3703320" cy="2423160"/>
          </a:xfrm>
          <a:prstGeom prst="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2011680"/>
            <a:ext cx="54864" cy="242316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086600" y="2057400"/>
            <a:ext cx="914400" cy="5486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3200" b="1">
                <a:solidFill>
                  <a:srgbClr val="0891B2"/>
                </a:solidFill>
                <a:latin typeface="Georgia"/>
              </a:rPr>
              <a:t>02</a:t>
            </a:r>
          </a:p>
        </p:txBody>
      </p:sp>
      <p:sp>
        <p:nvSpPr>
          <p:cNvPr id="14" name="Rectangle 13"/>
          <p:cNvSpPr/>
          <p:nvPr/>
        </p:nvSpPr>
        <p:spPr>
          <a:xfrm>
            <a:off x="4590288" y="2176272"/>
            <a:ext cx="242316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500" b="1">
                <a:solidFill>
                  <a:srgbClr val="E8EEF7"/>
                </a:solidFill>
                <a:latin typeface="Georgia"/>
              </a:rPr>
              <a:t>Encode offsets + params</a:t>
            </a:r>
          </a:p>
        </p:txBody>
      </p:sp>
      <p:sp>
        <p:nvSpPr>
          <p:cNvPr id="15" name="Rectangle 14"/>
          <p:cNvSpPr/>
          <p:nvPr/>
        </p:nvSpPr>
        <p:spPr>
          <a:xfrm>
            <a:off x="4590288" y="2670048"/>
            <a:ext cx="3337560" cy="164591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050" b="0">
                <a:solidFill>
                  <a:srgbClr val="9CA9BF"/>
                </a:solidFill>
                <a:latin typeface="Calibri"/>
              </a:rPr>
              <a:t>Geometry is captured in the parent's local frame, so the whole assembly rotates as a rigid body when placed at a different orientation.
Every parameter the user can edit on the live element is written into the YAML — including type-level params for keynote families (Keynote Value, Description).</a:t>
            </a:r>
          </a:p>
        </p:txBody>
      </p:sp>
      <p:sp>
        <p:nvSpPr>
          <p:cNvPr id="16" name="Rectangle 15"/>
          <p:cNvSpPr/>
          <p:nvPr/>
        </p:nvSpPr>
        <p:spPr>
          <a:xfrm>
            <a:off x="8229600" y="2011680"/>
            <a:ext cx="3703320" cy="2423160"/>
          </a:xfrm>
          <a:prstGeom prst="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2011680"/>
            <a:ext cx="54864" cy="242316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927080" y="2057400"/>
            <a:ext cx="914400" cy="5486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3200" b="1">
                <a:solidFill>
                  <a:srgbClr val="0891B2"/>
                </a:solidFill>
                <a:latin typeface="Georgia"/>
              </a:rPr>
              <a:t>03</a:t>
            </a:r>
          </a:p>
        </p:txBody>
      </p:sp>
      <p:sp>
        <p:nvSpPr>
          <p:cNvPr id="19" name="Rectangle 18"/>
          <p:cNvSpPr/>
          <p:nvPr/>
        </p:nvSpPr>
        <p:spPr>
          <a:xfrm>
            <a:off x="8430768" y="2176272"/>
            <a:ext cx="242316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500" b="1">
                <a:solidFill>
                  <a:srgbClr val="E8EEF7"/>
                </a:solidFill>
                <a:latin typeface="Georgia"/>
              </a:rPr>
              <a:t>Tags, keynotes, text</a:t>
            </a:r>
          </a:p>
        </p:txBody>
      </p:sp>
      <p:sp>
        <p:nvSpPr>
          <p:cNvPr id="20" name="Rectangle 19"/>
          <p:cNvSpPr/>
          <p:nvPr/>
        </p:nvSpPr>
        <p:spPr>
          <a:xfrm>
            <a:off x="8430768" y="2670048"/>
            <a:ext cx="3337560" cy="164591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050" b="0">
                <a:solidFill>
                  <a:srgbClr val="9CA9BF"/>
                </a:solidFill>
                <a:latin typeface="Calibri"/>
              </a:rPr>
              <a:t>Annotations travel with their host: family : type, world offset relative to the host fixture, leaders for tags, literal text content for text notes.
On placement the annotation list rebuilds at the chosen location. Dedup compares against any tags / keynotes already on the new instance.</a:t>
            </a:r>
          </a:p>
        </p:txBody>
      </p:sp>
      <p:sp>
        <p:nvSpPr>
          <p:cNvPr id="21" name="Rectangle 20"/>
          <p:cNvSpPr/>
          <p:nvPr/>
        </p:nvSpPr>
        <p:spPr>
          <a:xfrm>
            <a:off x="521207" y="5349240"/>
            <a:ext cx="5486400" cy="1051560"/>
          </a:xfrm>
          <a:prstGeom prst="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1207" y="5349240"/>
            <a:ext cx="54864" cy="105156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13232" y="5458968"/>
            <a:ext cx="5212080"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2800" b="1">
                <a:solidFill>
                  <a:srgbClr val="E8EEF7"/>
                </a:solidFill>
                <a:latin typeface="Georgia"/>
              </a:rPr>
              <a:t>30+ profiles</a:t>
            </a:r>
          </a:p>
        </p:txBody>
      </p:sp>
      <p:sp>
        <p:nvSpPr>
          <p:cNvPr id="24" name="Rectangle 23"/>
          <p:cNvSpPr/>
          <p:nvPr/>
        </p:nvSpPr>
        <p:spPr>
          <a:xfrm>
            <a:off x="713232" y="5971032"/>
            <a:ext cx="521208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00" b="0">
                <a:solidFill>
                  <a:srgbClr val="9CA9BF"/>
                </a:solidFill>
                <a:latin typeface="Calibri"/>
              </a:rPr>
              <a:t>captured for HEB and Planet Fitness so far</a:t>
            </a:r>
          </a:p>
        </p:txBody>
      </p:sp>
      <p:sp>
        <p:nvSpPr>
          <p:cNvPr id="25" name="Rectangle 24"/>
          <p:cNvSpPr/>
          <p:nvPr/>
        </p:nvSpPr>
        <p:spPr>
          <a:xfrm>
            <a:off x="6199632" y="5349240"/>
            <a:ext cx="5486400" cy="1051560"/>
          </a:xfrm>
          <a:prstGeom prst="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99632" y="5349240"/>
            <a:ext cx="54864" cy="105156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73368" y="5458968"/>
            <a:ext cx="5212080"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2800" b="1">
                <a:solidFill>
                  <a:srgbClr val="E8EEF7"/>
                </a:solidFill>
                <a:latin typeface="Georgia"/>
              </a:rPr>
              <a:t>0 hand re-modeling</a:t>
            </a:r>
          </a:p>
        </p:txBody>
      </p:sp>
      <p:sp>
        <p:nvSpPr>
          <p:cNvPr id="28" name="Rectangle 27"/>
          <p:cNvSpPr/>
          <p:nvPr/>
        </p:nvSpPr>
        <p:spPr>
          <a:xfrm>
            <a:off x="6373368" y="5971032"/>
            <a:ext cx="521208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00" b="0">
                <a:solidFill>
                  <a:srgbClr val="9CA9BF"/>
                </a:solidFill>
                <a:latin typeface="Calibri"/>
              </a:rPr>
              <a:t>every linked element + annotation is captured automatically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57200"/>
            <a:ext cx="411480"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1560" y="292608"/>
            <a:ext cx="731520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00" b="1">
                <a:solidFill>
                  <a:srgbClr val="22D3EE"/>
                </a:solidFill>
                <a:latin typeface="Consolas"/>
              </a:rPr>
              <a:t>PROFILE MANAGEMENT</a:t>
            </a:r>
          </a:p>
        </p:txBody>
      </p:sp>
      <p:sp>
        <p:nvSpPr>
          <p:cNvPr id="4" name="Rectangle 3"/>
          <p:cNvSpPr/>
          <p:nvPr/>
        </p:nvSpPr>
        <p:spPr>
          <a:xfrm>
            <a:off x="548640" y="621792"/>
            <a:ext cx="10972800" cy="6400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3200" b="1">
                <a:solidFill>
                  <a:srgbClr val="E8EEF7"/>
                </a:solidFill>
                <a:latin typeface="Georgia"/>
              </a:rPr>
              <a:t>YAML in, YAML out.</a:t>
            </a:r>
          </a:p>
        </p:txBody>
      </p:sp>
      <p:sp>
        <p:nvSpPr>
          <p:cNvPr id="5" name="Rectangle 4"/>
          <p:cNvSpPr/>
          <p:nvPr/>
        </p:nvSpPr>
        <p:spPr>
          <a:xfrm>
            <a:off x="548640" y="1280160"/>
            <a:ext cx="10972800"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400" b="0">
                <a:solidFill>
                  <a:srgbClr val="9CA9BF"/>
                </a:solidFill>
                <a:latin typeface="Calibri"/>
              </a:rPr>
              <a:t>Profiles live in two places: a per-project Extensible Storage entity (so the data ships with the model) and an exportable YAML file (so the same templates seed every project that follows).</a:t>
            </a:r>
          </a:p>
        </p:txBody>
      </p:sp>
      <p:sp>
        <p:nvSpPr>
          <p:cNvPr id="6" name="Rectangle 5"/>
          <p:cNvSpPr/>
          <p:nvPr/>
        </p:nvSpPr>
        <p:spPr>
          <a:xfrm>
            <a:off x="548640" y="2011680"/>
            <a:ext cx="3703320" cy="2423160"/>
          </a:xfrm>
          <a:prstGeom prst="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011680"/>
            <a:ext cx="54864" cy="242316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46119" y="2057400"/>
            <a:ext cx="914400" cy="5486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3200" b="1">
                <a:solidFill>
                  <a:srgbClr val="0891B2"/>
                </a:solidFill>
                <a:latin typeface="Georgia"/>
              </a:rPr>
              <a:t>01</a:t>
            </a:r>
          </a:p>
        </p:txBody>
      </p:sp>
      <p:sp>
        <p:nvSpPr>
          <p:cNvPr id="9" name="Rectangle 8"/>
          <p:cNvSpPr/>
          <p:nvPr/>
        </p:nvSpPr>
        <p:spPr>
          <a:xfrm>
            <a:off x="749808" y="2176272"/>
            <a:ext cx="242316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500" b="1">
                <a:solidFill>
                  <a:srgbClr val="E8EEF7"/>
                </a:solidFill>
                <a:latin typeface="Georgia"/>
              </a:rPr>
              <a:t>Manage Profiles editor</a:t>
            </a:r>
          </a:p>
        </p:txBody>
      </p:sp>
      <p:sp>
        <p:nvSpPr>
          <p:cNvPr id="10" name="Rectangle 9"/>
          <p:cNvSpPr/>
          <p:nvPr/>
        </p:nvSpPr>
        <p:spPr>
          <a:xfrm>
            <a:off x="749808" y="2670048"/>
            <a:ext cx="3337560" cy="164591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050" b="0">
                <a:solidFill>
                  <a:srgbClr val="9CA9BF"/>
                </a:solidFill>
                <a:latin typeface="Calibri"/>
              </a:rPr>
              <a:t>Tree view: linked sets, LEDs, annotations. The user edits parameter values, offsets, family : type, and merge-group truth-source pointers — every change round-trips cleanly through the YAML.
Captured fields display + edit live; built-in keynote values surface alongside shared CKT_* params.</a:t>
            </a:r>
          </a:p>
        </p:txBody>
      </p:sp>
      <p:sp>
        <p:nvSpPr>
          <p:cNvPr id="11" name="Rectangle 10"/>
          <p:cNvSpPr/>
          <p:nvPr/>
        </p:nvSpPr>
        <p:spPr>
          <a:xfrm>
            <a:off x="4389120" y="2011680"/>
            <a:ext cx="3703320" cy="2423160"/>
          </a:xfrm>
          <a:prstGeom prst="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2011680"/>
            <a:ext cx="54864" cy="242316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086600" y="2057400"/>
            <a:ext cx="914400" cy="5486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3200" b="1">
                <a:solidFill>
                  <a:srgbClr val="0891B2"/>
                </a:solidFill>
                <a:latin typeface="Georgia"/>
              </a:rPr>
              <a:t>02</a:t>
            </a:r>
          </a:p>
        </p:txBody>
      </p:sp>
      <p:sp>
        <p:nvSpPr>
          <p:cNvPr id="14" name="Rectangle 13"/>
          <p:cNvSpPr/>
          <p:nvPr/>
        </p:nvSpPr>
        <p:spPr>
          <a:xfrm>
            <a:off x="4590288" y="2176272"/>
            <a:ext cx="242316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500" b="1">
                <a:solidFill>
                  <a:srgbClr val="E8EEF7"/>
                </a:solidFill>
                <a:latin typeface="Georgia"/>
              </a:rPr>
              <a:t>Extensible Storage v4</a:t>
            </a:r>
          </a:p>
        </p:txBody>
      </p:sp>
      <p:sp>
        <p:nvSpPr>
          <p:cNvPr id="15" name="Rectangle 14"/>
          <p:cNvSpPr/>
          <p:nvPr/>
        </p:nvSpPr>
        <p:spPr>
          <a:xfrm>
            <a:off x="4590288" y="2670048"/>
            <a:ext cx="3337560" cy="164591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050" b="0">
                <a:solidFill>
                  <a:srgbClr val="9CA9BF"/>
                </a:solidFill>
                <a:latin typeface="Calibri"/>
              </a:rPr>
              <a:t>Project-local data lives on a dedicated DataStorage element (not ProjectInformation) so it survives schema changes and stays out of users' way.
Four typed map fields (String / Bool / Int64 / Double) + DocGuid. Int64-first with Int32 fallback keeps Revit 2026 happy.</a:t>
            </a:r>
          </a:p>
        </p:txBody>
      </p:sp>
      <p:sp>
        <p:nvSpPr>
          <p:cNvPr id="16" name="Rectangle 15"/>
          <p:cNvSpPr/>
          <p:nvPr/>
        </p:nvSpPr>
        <p:spPr>
          <a:xfrm>
            <a:off x="8229600" y="2011680"/>
            <a:ext cx="3703320" cy="2423160"/>
          </a:xfrm>
          <a:prstGeom prst="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2011680"/>
            <a:ext cx="54864" cy="242316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927080" y="2057400"/>
            <a:ext cx="914400" cy="5486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r"/>
            <a:r>
              <a:rPr sz="3200" b="1">
                <a:solidFill>
                  <a:srgbClr val="0891B2"/>
                </a:solidFill>
                <a:latin typeface="Georgia"/>
              </a:rPr>
              <a:t>03</a:t>
            </a:r>
          </a:p>
        </p:txBody>
      </p:sp>
      <p:sp>
        <p:nvSpPr>
          <p:cNvPr id="19" name="Rectangle 18"/>
          <p:cNvSpPr/>
          <p:nvPr/>
        </p:nvSpPr>
        <p:spPr>
          <a:xfrm>
            <a:off x="8430768" y="2176272"/>
            <a:ext cx="242316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500" b="1">
                <a:solidFill>
                  <a:srgbClr val="E8EEF7"/>
                </a:solidFill>
                <a:latin typeface="Georgia"/>
              </a:rPr>
              <a:t>Import / export YAML</a:t>
            </a:r>
          </a:p>
        </p:txBody>
      </p:sp>
      <p:sp>
        <p:nvSpPr>
          <p:cNvPr id="20" name="Rectangle 19"/>
          <p:cNvSpPr/>
          <p:nvPr/>
        </p:nvSpPr>
        <p:spPr>
          <a:xfrm>
            <a:off x="8430768" y="2670048"/>
            <a:ext cx="3337560" cy="164591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050" b="0">
                <a:solidFill>
                  <a:srgbClr val="9CA9BF"/>
                </a:solidFill>
                <a:latin typeface="Calibri"/>
              </a:rPr>
              <a:t>Output is byte-identical to what's stored — Import then Export is lossless. Same template can seed five projects with no copy/paste.
Spaces config exports separately from equipment so a bakery template moves to the next store without carrying that store's space-to-bucket assignments.</a:t>
            </a:r>
          </a:p>
        </p:txBody>
      </p:sp>
      <p:sp>
        <p:nvSpPr>
          <p:cNvPr id="21" name="Rectangle 20"/>
          <p:cNvSpPr/>
          <p:nvPr/>
        </p:nvSpPr>
        <p:spPr>
          <a:xfrm>
            <a:off x="521207" y="5349240"/>
            <a:ext cx="5486400" cy="1051560"/>
          </a:xfrm>
          <a:prstGeom prst="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1207" y="5349240"/>
            <a:ext cx="54864" cy="105156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13232" y="5458968"/>
            <a:ext cx="5212080"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2800" b="1">
                <a:solidFill>
                  <a:srgbClr val="E8EEF7"/>
                </a:solidFill>
                <a:latin typeface="Georgia"/>
              </a:rPr>
              <a:t>1 source of truth</a:t>
            </a:r>
          </a:p>
        </p:txBody>
      </p:sp>
      <p:sp>
        <p:nvSpPr>
          <p:cNvPr id="24" name="Rectangle 23"/>
          <p:cNvSpPr/>
          <p:nvPr/>
        </p:nvSpPr>
        <p:spPr>
          <a:xfrm>
            <a:off x="713232" y="5971032"/>
            <a:ext cx="521208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00" b="0">
                <a:solidFill>
                  <a:srgbClr val="9CA9BF"/>
                </a:solidFill>
                <a:latin typeface="Calibri"/>
              </a:rPr>
              <a:t>edits in the YAML propagate to every project on next import</a:t>
            </a:r>
          </a:p>
        </p:txBody>
      </p:sp>
      <p:sp>
        <p:nvSpPr>
          <p:cNvPr id="25" name="Rectangle 24"/>
          <p:cNvSpPr/>
          <p:nvPr/>
        </p:nvSpPr>
        <p:spPr>
          <a:xfrm>
            <a:off x="6199632" y="5349240"/>
            <a:ext cx="5486400" cy="1051560"/>
          </a:xfrm>
          <a:prstGeom prst="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99632" y="5349240"/>
            <a:ext cx="54864" cy="105156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73368" y="5458968"/>
            <a:ext cx="5212080"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2800" b="1">
                <a:solidFill>
                  <a:srgbClr val="E8EEF7"/>
                </a:solidFill>
                <a:latin typeface="Georgia"/>
              </a:rPr>
              <a:t>v100 schema</a:t>
            </a:r>
          </a:p>
        </p:txBody>
      </p:sp>
      <p:sp>
        <p:nvSpPr>
          <p:cNvPr id="28" name="Rectangle 27"/>
          <p:cNvSpPr/>
          <p:nvPr/>
        </p:nvSpPr>
        <p:spPr>
          <a:xfrm>
            <a:off x="6373368" y="5971032"/>
            <a:ext cx="521208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00" b="0">
                <a:solidFill>
                  <a:srgbClr val="9CA9BF"/>
                </a:solidFill>
                <a:latin typeface="Calibri"/>
              </a:rPr>
              <a:t>with v3 / v4 legacy migration on import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57200"/>
            <a:ext cx="411480"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1560" y="292608"/>
            <a:ext cx="731520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00" b="1">
                <a:solidFill>
                  <a:srgbClr val="22D3EE"/>
                </a:solidFill>
                <a:latin typeface="Consolas"/>
              </a:rPr>
              <a:t>PROFILE PLACEMENT</a:t>
            </a:r>
          </a:p>
        </p:txBody>
      </p:sp>
      <p:sp>
        <p:nvSpPr>
          <p:cNvPr id="4" name="Rectangle 3"/>
          <p:cNvSpPr/>
          <p:nvPr/>
        </p:nvSpPr>
        <p:spPr>
          <a:xfrm>
            <a:off x="548640" y="621792"/>
            <a:ext cx="10972800" cy="6400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3200" b="1">
                <a:solidFill>
                  <a:srgbClr val="E8EEF7"/>
                </a:solidFill>
                <a:latin typeface="Georgia"/>
              </a:rPr>
              <a:t>From AutoCAD to Revit, in seconds.</a:t>
            </a:r>
          </a:p>
        </p:txBody>
      </p:sp>
      <p:sp>
        <p:nvSpPr>
          <p:cNvPr id="5" name="Rectangle 4"/>
          <p:cNvSpPr/>
          <p:nvPr/>
        </p:nvSpPr>
        <p:spPr>
          <a:xfrm>
            <a:off x="548640" y="1280160"/>
            <a:ext cx="10972800"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400" b="0">
                <a:solidFill>
                  <a:srgbClr val="9CA9BF"/>
                </a:solidFill>
                <a:latin typeface="Calibri"/>
              </a:rPr>
              <a:t>Place from CAD or a linked Revit model: the engine matches every parent target to a captured profile, drops every linked element at its captured offset, and stamps the Element_Linker JSON for downstream audits and circuiting.</a:t>
            </a:r>
          </a:p>
        </p:txBody>
      </p:sp>
      <p:sp>
        <p:nvSpPr>
          <p:cNvPr id="6" name="Rectangle 5"/>
          <p:cNvSpPr/>
          <p:nvPr/>
        </p:nvSpPr>
        <p:spPr>
          <a:xfrm>
            <a:off x="548640" y="1920240"/>
            <a:ext cx="5303520" cy="4617720"/>
          </a:xfrm>
          <a:prstGeom prst="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920240"/>
            <a:ext cx="54864" cy="4617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36792" y="1920240"/>
            <a:ext cx="5303520" cy="4617720"/>
          </a:xfrm>
          <a:prstGeom prst="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36792" y="1920240"/>
            <a:ext cx="54864" cy="4617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6126480"/>
            <a:ext cx="50292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00" b="1">
                <a:solidFill>
                  <a:srgbClr val="22D3EE"/>
                </a:solidFill>
                <a:latin typeface="Consolas"/>
              </a:rPr>
              <a:t>BEFORE  -  CAD layout (provided by architect)</a:t>
            </a:r>
          </a:p>
        </p:txBody>
      </p:sp>
      <p:sp>
        <p:nvSpPr>
          <p:cNvPr id="11" name="Rectangle 10"/>
          <p:cNvSpPr/>
          <p:nvPr/>
        </p:nvSpPr>
        <p:spPr>
          <a:xfrm>
            <a:off x="6519672" y="6126480"/>
            <a:ext cx="50292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r>
              <a:rPr sz="1100" b="1">
                <a:solidFill>
                  <a:srgbClr val="22D3EE"/>
                </a:solidFill>
                <a:latin typeface="Consolas"/>
              </a:rPr>
              <a:t>AFTER  -  Revit equipment placed automatically</a:t>
            </a:r>
          </a:p>
        </p:txBody>
      </p:sp>
      <p:pic>
        <p:nvPicPr>
          <p:cNvPr id="12" name="Picture 11" descr="Screenshot 2026-05-05 133540.png"/>
          <p:cNvPicPr>
            <a:picLocks noChangeAspect="1"/>
          </p:cNvPicPr>
          <p:nvPr/>
        </p:nvPicPr>
        <p:blipFill>
          <a:blip r:embed="rId2"/>
          <a:stretch>
            <a:fillRect/>
          </a:stretch>
        </p:blipFill>
        <p:spPr>
          <a:xfrm>
            <a:off x="1963567" y="2011679"/>
            <a:ext cx="2473664" cy="4023360"/>
          </a:xfrm>
          <a:prstGeom prst="rect">
            <a:avLst/>
          </a:prstGeom>
        </p:spPr>
      </p:pic>
      <p:pic>
        <p:nvPicPr>
          <p:cNvPr id="13" name="Picture 12" descr="Screenshot 2026-05-05 133509.png"/>
          <p:cNvPicPr>
            <a:picLocks noChangeAspect="1"/>
          </p:cNvPicPr>
          <p:nvPr/>
        </p:nvPicPr>
        <p:blipFill>
          <a:blip r:embed="rId3"/>
          <a:stretch>
            <a:fillRect/>
          </a:stretch>
        </p:blipFill>
        <p:spPr>
          <a:xfrm>
            <a:off x="7791562" y="2011679"/>
            <a:ext cx="2393978" cy="40233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528</Words>
  <Application>Microsoft Office PowerPoint</Application>
  <PresentationFormat>Widescreen</PresentationFormat>
  <Paragraphs>71</Paragraphs>
  <Slides>4</Slides>
  <Notes>4</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Planet Fitness Revit Setup Automation</dc:title>
  <dc:subject>PptxGenJS Presentation</dc:subject>
  <dc:creator>PptxGenJS</dc:creator>
  <cp:lastModifiedBy>Matthew Gonzales</cp:lastModifiedBy>
  <cp:revision>2</cp:revision>
  <dcterms:created xsi:type="dcterms:W3CDTF">2026-05-05T17:00:22Z</dcterms:created>
  <dcterms:modified xsi:type="dcterms:W3CDTF">2026-05-05T17:06:01Z</dcterms:modified>
</cp:coreProperties>
</file>